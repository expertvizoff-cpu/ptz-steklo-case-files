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pt-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2560320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008C8C"/>
                </a:solidFill>
                <a:latin typeface="Montserrat"/>
              </a:rPr>
              <a:t>КОНТЕКСТ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67512"/>
            <a:ext cx="9966960" cy="59436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>
                <a:solidFill>
                  <a:srgbClr val="15243A"/>
                </a:solidFill>
                <a:latin typeface="Montserrat"/>
              </a:rPr>
              <a:t>Индивидуальный заказ проходит длинный путь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64240" y="347472"/>
            <a:ext cx="502920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1200" b="1">
                <a:solidFill>
                  <a:srgbClr val="667085"/>
                </a:solidFill>
                <a:latin typeface="Montserrat"/>
              </a:rPr>
              <a:t>02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00200"/>
            <a:ext cx="2011680" cy="1325880"/>
          </a:xfrm>
          <a:prstGeom prst="roundRect">
            <a:avLst/>
          </a:prstGeom>
          <a:solidFill>
            <a:srgbClr val="E7F6F5"/>
          </a:solidFill>
          <a:ln w="10160">
            <a:solidFill>
              <a:srgbClr val="C4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1" y="1801368"/>
            <a:ext cx="1691640" cy="4572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08C8C"/>
                </a:solidFill>
                <a:latin typeface="Montserrat"/>
              </a:rPr>
              <a:t>1998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1" y="2350008"/>
            <a:ext cx="1691640" cy="32004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667085"/>
                </a:solidFill>
                <a:latin typeface="Montserrat"/>
              </a:rPr>
              <a:t>год начала работы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71800" y="1600200"/>
            <a:ext cx="2011680" cy="1325880"/>
          </a:xfrm>
          <a:prstGeom prst="roundRect">
            <a:avLst/>
          </a:prstGeom>
          <a:solidFill>
            <a:srgbClr val="E7F6F5"/>
          </a:solidFill>
          <a:ln w="10160">
            <a:solidFill>
              <a:srgbClr val="C4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136392" y="1801368"/>
            <a:ext cx="1691640" cy="4572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08C8C"/>
                </a:solidFill>
                <a:latin typeface="Montserrat"/>
              </a:rPr>
              <a:t>10 000+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36392" y="2350008"/>
            <a:ext cx="1691640" cy="32004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667085"/>
                </a:solidFill>
                <a:latin typeface="Montserrat"/>
              </a:rPr>
              <a:t>частных клиентов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246120"/>
            <a:ext cx="2011680" cy="1325880"/>
          </a:xfrm>
          <a:prstGeom prst="roundRect">
            <a:avLst/>
          </a:prstGeom>
          <a:solidFill>
            <a:srgbClr val="E7F6F5"/>
          </a:solidFill>
          <a:ln w="10160">
            <a:solidFill>
              <a:srgbClr val="C4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1" y="3447288"/>
            <a:ext cx="1691640" cy="4572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08C8C"/>
                </a:solidFill>
                <a:latin typeface="Montserrat"/>
              </a:rPr>
              <a:t>1 000+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3995928"/>
            <a:ext cx="1691640" cy="32004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667085"/>
                </a:solidFill>
                <a:latin typeface="Montserrat"/>
              </a:rPr>
              <a:t>организаций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971800" y="3246120"/>
            <a:ext cx="2011680" cy="1325880"/>
          </a:xfrm>
          <a:prstGeom prst="roundRect">
            <a:avLst/>
          </a:prstGeom>
          <a:solidFill>
            <a:srgbClr val="E7F6F5"/>
          </a:solidFill>
          <a:ln w="10160">
            <a:solidFill>
              <a:srgbClr val="C4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136392" y="3447288"/>
            <a:ext cx="1691640" cy="4572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08C8C"/>
                </a:solidFill>
                <a:latin typeface="Montserrat"/>
              </a:rPr>
              <a:t>500+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36392" y="3995928"/>
            <a:ext cx="1691640" cy="32004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667085"/>
                </a:solidFill>
                <a:latin typeface="Montserrat"/>
              </a:rPr>
              <a:t>постоянных клиентов</a:t>
            </a:r>
          </a:p>
        </p:txBody>
      </p:sp>
      <p:pic>
        <p:nvPicPr>
          <p:cNvPr id="17" name="Picture 16" descr="ptz-projec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0" y="1581912"/>
            <a:ext cx="2926080" cy="29260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823960" y="1719072"/>
            <a:ext cx="1005840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008C8C"/>
                </a:solidFill>
                <a:latin typeface="Montserrat"/>
              </a:rPr>
              <a:t>ЗАМЕР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23960" y="2240280"/>
            <a:ext cx="1463040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15243A"/>
                </a:solidFill>
                <a:latin typeface="Montserrat"/>
              </a:rPr>
              <a:t>→ РАСЧЁТ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23960" y="2761488"/>
            <a:ext cx="2194560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15243A"/>
                </a:solidFill>
                <a:latin typeface="Montserrat"/>
              </a:rPr>
              <a:t>→ ПРОИЗВОДСТВО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23960" y="3282696"/>
            <a:ext cx="1737360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15243A"/>
                </a:solidFill>
                <a:latin typeface="Montserrat"/>
              </a:rPr>
              <a:t>→ ДОСТАВКА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23960" y="3803904"/>
            <a:ext cx="1554480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15243A"/>
                </a:solidFill>
                <a:latin typeface="Montserrat"/>
              </a:rPr>
              <a:t>→ МОНТАЖ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126480"/>
            <a:ext cx="6583680" cy="2286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667085"/>
                </a:solidFill>
                <a:latin typeface="Montserrat"/>
              </a:rPr>
              <a:t>Источник показателей: официальный сайт СтеклоЦентр.ПТЗ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528816"/>
            <a:ext cx="4114800" cy="20116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1">
                <a:solidFill>
                  <a:srgbClr val="667085"/>
                </a:solidFill>
                <a:latin typeface="Montserrat"/>
              </a:rPr>
              <a:t>WEBOPTIMIZE  •  WEBOPTIMIZE.RU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2560320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008C8C"/>
                </a:solidFill>
                <a:latin typeface="Montserrat"/>
              </a:rPr>
              <a:t>ЗАДАЧА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67512"/>
            <a:ext cx="9966960" cy="59436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>
                <a:solidFill>
                  <a:srgbClr val="15243A"/>
                </a:solidFill>
                <a:latin typeface="Montserrat"/>
              </a:rPr>
              <a:t>Между сделкой и производством был разрыв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64240" y="347472"/>
            <a:ext cx="502920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1200" b="1">
                <a:solidFill>
                  <a:srgbClr val="667085"/>
                </a:solidFill>
                <a:latin typeface="Montserrat"/>
              </a:rPr>
              <a:t>03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00200"/>
            <a:ext cx="3429000" cy="16002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7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764792"/>
            <a:ext cx="411480" cy="2286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008C8C"/>
                </a:solidFill>
                <a:latin typeface="Montserrat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130552"/>
            <a:ext cx="3017520" cy="32004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5243A"/>
                </a:solidFill>
                <a:latin typeface="Montserrat"/>
              </a:rPr>
              <a:t>Два рабочих пространства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532888"/>
            <a:ext cx="3017520" cy="47548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20" b="0">
                <a:solidFill>
                  <a:srgbClr val="667085"/>
                </a:solidFill>
                <a:latin typeface="Montserrat"/>
              </a:rPr>
              <a:t>Менеджер — в Bitrix24, производство — в 1С.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07408" y="1600200"/>
            <a:ext cx="3429000" cy="16002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7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90288" y="1764792"/>
            <a:ext cx="411480" cy="2286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008C8C"/>
                </a:solidFill>
                <a:latin typeface="Montserrat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90288" y="2130552"/>
            <a:ext cx="3017520" cy="32004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5243A"/>
                </a:solidFill>
                <a:latin typeface="Montserrat"/>
              </a:rPr>
              <a:t>Ручная сверка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0288" y="2532888"/>
            <a:ext cx="3017520" cy="47548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20" b="0">
                <a:solidFill>
                  <a:srgbClr val="667085"/>
                </a:solidFill>
                <a:latin typeface="Montserrat"/>
              </a:rPr>
              <a:t>Номер, статус, сроки и сумма уточняются отдельно.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74736" y="1600200"/>
            <a:ext cx="3429000" cy="16002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7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57615" y="1764792"/>
            <a:ext cx="411480" cy="2286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008C8C"/>
                </a:solidFill>
                <a:latin typeface="Montserrat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57615" y="2130552"/>
            <a:ext cx="3017520" cy="32004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5243A"/>
                </a:solidFill>
                <a:latin typeface="Montserrat"/>
              </a:rPr>
              <a:t>Риск дубля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7615" y="2532888"/>
            <a:ext cx="3017520" cy="47548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20" b="0">
                <a:solidFill>
                  <a:srgbClr val="667085"/>
                </a:solidFill>
                <a:latin typeface="Montserrat"/>
              </a:rPr>
              <a:t>Повторная передача может создать второй заказ.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566160"/>
            <a:ext cx="3429000" cy="16002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7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59" y="3730752"/>
            <a:ext cx="411480" cy="2286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008C8C"/>
                </a:solidFill>
                <a:latin typeface="Montserrat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59" y="4096511"/>
            <a:ext cx="3017520" cy="32004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5243A"/>
                </a:solidFill>
                <a:latin typeface="Montserrat"/>
              </a:rPr>
              <a:t>Закрытая 1С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59" y="4498848"/>
            <a:ext cx="3017520" cy="47548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20" b="0">
                <a:solidFill>
                  <a:srgbClr val="667085"/>
                </a:solidFill>
                <a:latin typeface="Montserrat"/>
              </a:rPr>
              <a:t>Старую базу нельзя публиковать в интернет.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07408" y="3566160"/>
            <a:ext cx="3429000" cy="16002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7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90288" y="3730752"/>
            <a:ext cx="411480" cy="2286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008C8C"/>
                </a:solidFill>
                <a:latin typeface="Montserrat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90288" y="4096511"/>
            <a:ext cx="3017520" cy="32004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5243A"/>
                </a:solidFill>
                <a:latin typeface="Montserrat"/>
              </a:rPr>
              <a:t>Нестандартный документ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90288" y="4498848"/>
            <a:ext cx="3017520" cy="47548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20" b="0">
                <a:solidFill>
                  <a:srgbClr val="667085"/>
                </a:solidFill>
                <a:latin typeface="Montserrat"/>
              </a:rPr>
              <a:t>Работа строится вокруг собственного ЗаказОбщий.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74736" y="3566160"/>
            <a:ext cx="3429000" cy="16002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7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57615" y="3730752"/>
            <a:ext cx="411480" cy="2286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008C8C"/>
                </a:solidFill>
                <a:latin typeface="Montserrat"/>
              </a:rPr>
              <a:t>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57615" y="4096511"/>
            <a:ext cx="3017520" cy="32004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5243A"/>
                </a:solidFill>
                <a:latin typeface="Montserrat"/>
              </a:rPr>
              <a:t>Нет штатного коннектора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57615" y="4498848"/>
            <a:ext cx="3017520" cy="47548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20" b="0">
                <a:solidFill>
                  <a:srgbClr val="667085"/>
                </a:solidFill>
                <a:latin typeface="Montserrat"/>
              </a:rPr>
              <a:t>Целевой legacy-контур требует отдельного адаптера.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6528816"/>
            <a:ext cx="4114800" cy="20116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1">
                <a:solidFill>
                  <a:srgbClr val="667085"/>
                </a:solidFill>
                <a:latin typeface="Montserrat"/>
              </a:rPr>
              <a:t>WEBOPTIMIZE  •  WEBOPTIMIZE.RU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2560320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008C8C"/>
                </a:solidFill>
                <a:latin typeface="Montserrat"/>
              </a:rPr>
              <a:t>АРХИТЕКТУРА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67512"/>
            <a:ext cx="9966960" cy="59436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>
                <a:solidFill>
                  <a:srgbClr val="15243A"/>
                </a:solidFill>
                <a:latin typeface="Montserrat"/>
              </a:rPr>
              <a:t>1С остаётся закрытой, обмен выполняется локально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64240" y="347472"/>
            <a:ext cx="502920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1200" b="1">
                <a:solidFill>
                  <a:srgbClr val="667085"/>
                </a:solidFill>
                <a:latin typeface="Montserrat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508760"/>
            <a:ext cx="10972800" cy="3611880"/>
          </a:xfrm>
          <a:prstGeom prst="rect">
            <a:avLst/>
          </a:prstGeom>
          <a:solidFill>
            <a:srgbClr val="F3F6F8"/>
          </a:solidFill>
          <a:ln w="10160">
            <a:solidFill>
              <a:srgbClr val="D7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2-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27632"/>
            <a:ext cx="10881360" cy="328481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5413248"/>
            <a:ext cx="1371600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008C8C"/>
                </a:solidFill>
                <a:latin typeface="Montserrat"/>
              </a:rPr>
              <a:t>HTTPS 443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733288"/>
            <a:ext cx="3246120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667085"/>
                </a:solidFill>
                <a:latin typeface="Montserrat"/>
              </a:rPr>
              <a:t>только исходящее соединение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43400" y="5413248"/>
            <a:ext cx="1371600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008C8C"/>
                </a:solidFill>
                <a:latin typeface="Montserrat"/>
              </a:rPr>
              <a:t>DPAPI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5733288"/>
            <a:ext cx="3246120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667085"/>
                </a:solidFill>
                <a:latin typeface="Montserrat"/>
              </a:rPr>
              <a:t>секреты защищены локально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9" y="5413248"/>
            <a:ext cx="1371600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008C8C"/>
                </a:solidFill>
                <a:latin typeface="Montserrat"/>
              </a:rPr>
              <a:t>0 публикаций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9" y="5733288"/>
            <a:ext cx="3246120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667085"/>
                </a:solidFill>
                <a:latin typeface="Montserrat"/>
              </a:rPr>
              <a:t>IIS и HTTP-сервис 1С не нужны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528816"/>
            <a:ext cx="4114800" cy="20116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1">
                <a:solidFill>
                  <a:srgbClr val="667085"/>
                </a:solidFill>
                <a:latin typeface="Montserrat"/>
              </a:rPr>
              <a:t>WEBOPTIMIZE  •  WEBOPTIMIZE.RU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2560320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008C8C"/>
                </a:solidFill>
                <a:latin typeface="Montserrat"/>
              </a:rPr>
              <a:t>ПУТЬ ПОЛЬЗОВАТЕЛЯ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67512"/>
            <a:ext cx="9966960" cy="59436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>
                <a:solidFill>
                  <a:srgbClr val="15243A"/>
                </a:solidFill>
                <a:latin typeface="Montserrat"/>
              </a:rPr>
              <a:t>Пять шагов — от заполненной сделки до актуального статуса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64240" y="347472"/>
            <a:ext cx="502920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1200" b="1">
                <a:solidFill>
                  <a:srgbClr val="667085"/>
                </a:solidFill>
                <a:latin typeface="Montserrat"/>
              </a:rPr>
              <a:t>05</a:t>
            </a:r>
          </a:p>
        </p:txBody>
      </p:sp>
      <p:pic>
        <p:nvPicPr>
          <p:cNvPr id="5" name="Picture 4" descr="01-user-journ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72768"/>
            <a:ext cx="11064240" cy="388631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40080" y="5696712"/>
            <a:ext cx="10881360" cy="530352"/>
          </a:xfrm>
          <a:prstGeom prst="roundRect">
            <a:avLst/>
          </a:prstGeom>
          <a:solidFill>
            <a:srgbClr val="E7F6F5"/>
          </a:solidFill>
          <a:ln w="10160">
            <a:solidFill>
              <a:srgbClr val="C4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5843016"/>
            <a:ext cx="10424160" cy="2286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1">
                <a:solidFill>
                  <a:srgbClr val="008C8C"/>
                </a:solidFill>
                <a:latin typeface="Montserrat"/>
              </a:rPr>
              <a:t>Менеджер работает в Bitrix24 • производство — в 1С • связь и обновления выполняются автоматически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528816"/>
            <a:ext cx="4114800" cy="20116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1">
                <a:solidFill>
                  <a:srgbClr val="667085"/>
                </a:solidFill>
                <a:latin typeface="Montserrat"/>
              </a:rPr>
              <a:t>WEBOPTIMIZE  •  WEBOPTIMIZE.RU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2560320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008C8C"/>
                </a:solidFill>
                <a:latin typeface="Montserrat"/>
              </a:rPr>
              <a:t>ОБРАТНЫЙ ОБМЕН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67512"/>
            <a:ext cx="9966960" cy="59436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>
                <a:solidFill>
                  <a:srgbClr val="15243A"/>
                </a:solidFill>
                <a:latin typeface="Montserrat"/>
              </a:rPr>
              <a:t>Изменения 1С возвращаются в исходную сделку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64240" y="347472"/>
            <a:ext cx="502920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1200" b="1">
                <a:solidFill>
                  <a:srgbClr val="667085"/>
                </a:solidFill>
                <a:latin typeface="Montserrat"/>
              </a:rPr>
              <a:t>06</a:t>
            </a:r>
          </a:p>
        </p:txBody>
      </p:sp>
      <p:pic>
        <p:nvPicPr>
          <p:cNvPr id="5" name="Picture 4" descr="03-reverse-sy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1627632"/>
            <a:ext cx="10927080" cy="3203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5230368"/>
            <a:ext cx="10698480" cy="868680"/>
          </a:xfrm>
          <a:prstGeom prst="rect">
            <a:avLst/>
          </a:prstGeom>
          <a:noFill/>
        </p:spPr>
        <p:txBody>
          <a:bodyPr wrap="none" lIns="18288" rIns="18288" tIns="18288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  <a:defRPr sz="1120">
                <a:solidFill>
                  <a:srgbClr val="17212B"/>
                </a:solidFill>
                <a:latin typeface="Montserrat"/>
              </a:defRPr>
            </a:pPr>
            <a:r>
              <a:t>•  1С владеет производственным статусом, сроками, суммой и переделкой</a:t>
            </a:r>
          </a:p>
          <a:p>
            <a:pPr>
              <a:lnSpc>
                <a:spcPct val="105000"/>
              </a:lnSpc>
              <a:spcAft>
                <a:spcPts val="800"/>
              </a:spcAft>
              <a:defRPr sz="1120">
                <a:solidFill>
                  <a:srgbClr val="17212B"/>
                </a:solidFill>
                <a:latin typeface="Montserrat"/>
              </a:defRPr>
            </a:pPr>
            <a:r>
              <a:t>•  worker проверяет только уже связанные заказы</a:t>
            </a:r>
          </a:p>
          <a:p>
            <a:pPr>
              <a:lnSpc>
                <a:spcPct val="105000"/>
              </a:lnSpc>
              <a:spcAft>
                <a:spcPts val="800"/>
              </a:spcAft>
              <a:defRPr sz="1120">
                <a:solidFill>
                  <a:srgbClr val="17212B"/>
                </a:solidFill>
                <a:latin typeface="Montserrat"/>
              </a:defRPr>
            </a:pPr>
            <a:r>
              <a:t>•  вторая сделка и второй заказ не создаются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28816"/>
            <a:ext cx="4114800" cy="20116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1">
                <a:solidFill>
                  <a:srgbClr val="667085"/>
                </a:solidFill>
                <a:latin typeface="Montserrat"/>
              </a:rPr>
              <a:t>WEBOPTIMIZE  •  WEBOPTIMIZE.RU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2560320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008C8C"/>
                </a:solidFill>
                <a:latin typeface="Montserrat"/>
              </a:rPr>
              <a:t>НАДЁЖНОСТЬ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67512"/>
            <a:ext cx="9966960" cy="59436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>
                <a:solidFill>
                  <a:srgbClr val="15243A"/>
                </a:solidFill>
                <a:latin typeface="Montserrat"/>
              </a:rPr>
              <a:t>Временная ошибка не превращается в дубль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64240" y="347472"/>
            <a:ext cx="502920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1200" b="1">
                <a:solidFill>
                  <a:srgbClr val="667085"/>
                </a:solidFill>
                <a:latin typeface="Montserrat"/>
              </a:rPr>
              <a:t>07</a:t>
            </a:r>
          </a:p>
        </p:txBody>
      </p:sp>
      <p:pic>
        <p:nvPicPr>
          <p:cNvPr id="5" name="Picture 4" descr="04-retry-prot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18488"/>
            <a:ext cx="10881360" cy="222387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40080" y="4370832"/>
            <a:ext cx="2468880" cy="960120"/>
          </a:xfrm>
          <a:prstGeom prst="roundRect">
            <a:avLst/>
          </a:prstGeom>
          <a:solidFill>
            <a:srgbClr val="E8F2FB"/>
          </a:solidFill>
          <a:ln w="10160">
            <a:solidFill>
              <a:srgbClr val="C9DF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4526280"/>
            <a:ext cx="329184" cy="2286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1">
                <a:solidFill>
                  <a:srgbClr val="1769AA"/>
                </a:solidFill>
                <a:latin typeface="Montserrat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0431" y="4498848"/>
            <a:ext cx="1755648" cy="43891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>
                <a:solidFill>
                  <a:srgbClr val="15243A"/>
                </a:solidFill>
                <a:latin typeface="Montserrat"/>
              </a:rPr>
              <a:t>Команда остаётся в очереди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83280" y="4370832"/>
            <a:ext cx="2468880" cy="960120"/>
          </a:xfrm>
          <a:prstGeom prst="roundRect">
            <a:avLst/>
          </a:prstGeom>
          <a:solidFill>
            <a:srgbClr val="E8F2FB"/>
          </a:solidFill>
          <a:ln w="10160">
            <a:solidFill>
              <a:srgbClr val="C9DF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29584" y="4526280"/>
            <a:ext cx="329184" cy="2286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1">
                <a:solidFill>
                  <a:srgbClr val="1769AA"/>
                </a:solidFill>
                <a:latin typeface="Montserrat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13632" y="4498848"/>
            <a:ext cx="1755648" cy="43891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>
                <a:solidFill>
                  <a:srgbClr val="15243A"/>
                </a:solidFill>
                <a:latin typeface="Montserrat"/>
              </a:rPr>
              <a:t>Повтор ограничен по числу попыток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4370832"/>
            <a:ext cx="2468880" cy="960120"/>
          </a:xfrm>
          <a:prstGeom prst="roundRect">
            <a:avLst/>
          </a:prstGeom>
          <a:solidFill>
            <a:srgbClr val="E8F2FB"/>
          </a:solidFill>
          <a:ln w="10160">
            <a:solidFill>
              <a:srgbClr val="C9DF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72784" y="4526280"/>
            <a:ext cx="329184" cy="2286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1">
                <a:solidFill>
                  <a:srgbClr val="1769AA"/>
                </a:solidFill>
                <a:latin typeface="Montserrat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832" y="4498848"/>
            <a:ext cx="1755648" cy="43891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>
                <a:solidFill>
                  <a:srgbClr val="15243A"/>
                </a:solidFill>
                <a:latin typeface="Montserrat"/>
              </a:rPr>
              <a:t>Связь проверяется перед записью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869680" y="4370832"/>
            <a:ext cx="2468880" cy="960120"/>
          </a:xfrm>
          <a:prstGeom prst="roundRect">
            <a:avLst/>
          </a:prstGeom>
          <a:solidFill>
            <a:srgbClr val="E8F2FB"/>
          </a:solidFill>
          <a:ln w="10160">
            <a:solidFill>
              <a:srgbClr val="C9DF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15984" y="4526280"/>
            <a:ext cx="329184" cy="2286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1">
                <a:solidFill>
                  <a:srgbClr val="1769AA"/>
                </a:solidFill>
                <a:latin typeface="Montserrat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00032" y="4498848"/>
            <a:ext cx="1755648" cy="43891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>
                <a:solidFill>
                  <a:srgbClr val="15243A"/>
                </a:solidFill>
                <a:latin typeface="Montserrat"/>
              </a:rPr>
              <a:t>Обновляется существующий заказ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815584"/>
            <a:ext cx="8686800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667085"/>
                </a:solidFill>
                <a:latin typeface="Montserrat"/>
              </a:rPr>
              <a:t>Логи не содержат webhook, пароль 1С или персональные данные.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528816"/>
            <a:ext cx="4114800" cy="20116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1">
                <a:solidFill>
                  <a:srgbClr val="667085"/>
                </a:solidFill>
                <a:latin typeface="Montserrat"/>
              </a:rPr>
              <a:t>WEBOPTIMIZE  •  WEBOPTIMIZE.RU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2560320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008C8C"/>
                </a:solidFill>
                <a:latin typeface="Montserrat"/>
              </a:rPr>
              <a:t>ПРИЁМКА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67512"/>
            <a:ext cx="9966960" cy="59436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>
                <a:solidFill>
                  <a:srgbClr val="15243A"/>
                </a:solidFill>
                <a:latin typeface="Montserrat"/>
              </a:rPr>
              <a:t>Что подтверждено в тестовом контуре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64240" y="347472"/>
            <a:ext cx="502920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1200" b="1">
                <a:solidFill>
                  <a:srgbClr val="667085"/>
                </a:solidFill>
                <a:latin typeface="Montserrat"/>
              </a:rPr>
              <a:t>08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00200"/>
            <a:ext cx="3429000" cy="15087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7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1801368"/>
            <a:ext cx="1417320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17805E"/>
                </a:solidFill>
                <a:latin typeface="Montserrat"/>
              </a:rPr>
              <a:t>VERIFIED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2313432"/>
            <a:ext cx="2834640" cy="34747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5243A"/>
                </a:solidFill>
                <a:latin typeface="Montserrat"/>
              </a:rPr>
              <a:t>Создание заказа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2715768"/>
            <a:ext cx="2377440" cy="2286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667085"/>
                </a:solidFill>
                <a:latin typeface="Montserrat"/>
              </a:rPr>
              <a:t>синтетический тест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07408" y="1600200"/>
            <a:ext cx="3429000" cy="15087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7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08576" y="1801368"/>
            <a:ext cx="1417320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17805E"/>
                </a:solidFill>
                <a:latin typeface="Montserrat"/>
              </a:rPr>
              <a:t>VERIFIED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08576" y="2313432"/>
            <a:ext cx="2834640" cy="34747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5243A"/>
                </a:solidFill>
                <a:latin typeface="Montserrat"/>
              </a:rPr>
              <a:t>Повторная отправка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08576" y="2715768"/>
            <a:ext cx="2377440" cy="2286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667085"/>
                </a:solidFill>
                <a:latin typeface="Montserrat"/>
              </a:rPr>
              <a:t>синтетический тест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74736" y="1600200"/>
            <a:ext cx="3429000" cy="15087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7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75904" y="1801368"/>
            <a:ext cx="1417320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17805E"/>
                </a:solidFill>
                <a:latin typeface="Montserrat"/>
              </a:rPr>
              <a:t>VERIFIED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75904" y="2313432"/>
            <a:ext cx="2834640" cy="34747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5243A"/>
                </a:solidFill>
                <a:latin typeface="Montserrat"/>
              </a:rPr>
              <a:t>Обратный статус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75904" y="2715768"/>
            <a:ext cx="2377440" cy="2286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667085"/>
                </a:solidFill>
                <a:latin typeface="Montserrat"/>
              </a:rPr>
              <a:t>синтетический тест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520440"/>
            <a:ext cx="3429000" cy="15087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7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7" y="3721608"/>
            <a:ext cx="1417320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17805E"/>
                </a:solidFill>
                <a:latin typeface="Montserrat"/>
              </a:rPr>
              <a:t>VERIFIED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7" y="4233672"/>
            <a:ext cx="2834640" cy="34747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5243A"/>
                </a:solidFill>
                <a:latin typeface="Montserrat"/>
              </a:rPr>
              <a:t>Ограниченный retry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7" y="4636008"/>
            <a:ext cx="2377440" cy="2286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667085"/>
                </a:solidFill>
                <a:latin typeface="Montserrat"/>
              </a:rPr>
              <a:t>синтетический тест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07408" y="3520440"/>
            <a:ext cx="3429000" cy="15087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7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08576" y="3721608"/>
            <a:ext cx="1417320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17805E"/>
                </a:solidFill>
                <a:latin typeface="Montserrat"/>
              </a:rPr>
              <a:t>HEALTHY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08576" y="4233672"/>
            <a:ext cx="2834640" cy="34747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5243A"/>
                </a:solidFill>
                <a:latin typeface="Montserrat"/>
              </a:rPr>
              <a:t>Online health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08576" y="4636008"/>
            <a:ext cx="2377440" cy="2286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667085"/>
                </a:solidFill>
                <a:latin typeface="Montserrat"/>
              </a:rPr>
              <a:t>синтетический тест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74736" y="3520440"/>
            <a:ext cx="3429000" cy="15087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7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75904" y="3721608"/>
            <a:ext cx="1417320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17805E"/>
                </a:solidFill>
                <a:latin typeface="Montserrat"/>
              </a:rPr>
              <a:t>CODE 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75904" y="4233672"/>
            <a:ext cx="2834640" cy="34747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5243A"/>
                </a:solidFill>
                <a:latin typeface="Montserrat"/>
              </a:rPr>
              <a:t>Плановый worker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75904" y="4636008"/>
            <a:ext cx="2377440" cy="2286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667085"/>
                </a:solidFill>
                <a:latin typeface="Montserrat"/>
              </a:rPr>
              <a:t>синтетический тест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5559552"/>
            <a:ext cx="10881360" cy="603504"/>
          </a:xfrm>
          <a:prstGeom prst="roundRect">
            <a:avLst/>
          </a:prstGeom>
          <a:solidFill>
            <a:srgbClr val="E7F6F5"/>
          </a:solidFill>
          <a:ln w="10160">
            <a:solidFill>
              <a:srgbClr val="C4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" y="5733288"/>
            <a:ext cx="10378440" cy="25603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070" b="1">
                <a:solidFill>
                  <a:srgbClr val="008C8C"/>
                </a:solidFill>
                <a:latin typeface="Montserrat"/>
              </a:rPr>
              <a:t>Технический маршрут подтверждён. Рабочий запуск проходит отдельную приёмку на точной клиентской платформе.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6528816"/>
            <a:ext cx="4114800" cy="20116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1">
                <a:solidFill>
                  <a:srgbClr val="667085"/>
                </a:solidFill>
                <a:latin typeface="Montserrat"/>
              </a:rPr>
              <a:t>WEBOPTIMIZE  •  WEBOPTIMIZE.RU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2560320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008C8C"/>
                </a:solidFill>
                <a:latin typeface="Montserrat"/>
              </a:rPr>
              <a:t>ЭФФЕКТ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67512"/>
            <a:ext cx="9966960" cy="59436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>
                <a:solidFill>
                  <a:srgbClr val="15243A"/>
                </a:solidFill>
                <a:latin typeface="Montserrat"/>
              </a:rPr>
              <a:t>Каждый участник остаётся в своей системе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64240" y="347472"/>
            <a:ext cx="502920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1200" b="1">
                <a:solidFill>
                  <a:srgbClr val="667085"/>
                </a:solidFill>
                <a:latin typeface="Montserrat"/>
              </a:rPr>
              <a:t>09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00200"/>
            <a:ext cx="3401568" cy="3611880"/>
          </a:xfrm>
          <a:prstGeom prst="roundRect">
            <a:avLst/>
          </a:prstGeom>
          <a:solidFill>
            <a:srgbClr val="F3F6F8"/>
          </a:solidFill>
          <a:ln w="10160">
            <a:solidFill>
              <a:srgbClr val="D7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47088"/>
            <a:ext cx="2834640" cy="36576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1">
                <a:solidFill>
                  <a:srgbClr val="008C8C"/>
                </a:solidFill>
                <a:latin typeface="Montserrat"/>
              </a:rPr>
              <a:t>Менеджер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487168"/>
            <a:ext cx="2834640" cy="2057400"/>
          </a:xfrm>
          <a:prstGeom prst="rect">
            <a:avLst/>
          </a:prstGeom>
          <a:noFill/>
        </p:spPr>
        <p:txBody>
          <a:bodyPr wrap="none" lIns="18288" rIns="18288" tIns="18288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  <a:defRPr sz="1200">
                <a:solidFill>
                  <a:srgbClr val="17212B"/>
                </a:solidFill>
                <a:latin typeface="Montserrat"/>
              </a:defRPr>
            </a:pPr>
            <a:r>
              <a:t>•  видит исполнение в одной карточке</a:t>
            </a:r>
          </a:p>
          <a:p>
            <a:pPr>
              <a:lnSpc>
                <a:spcPct val="105000"/>
              </a:lnSpc>
              <a:spcAft>
                <a:spcPts val="800"/>
              </a:spcAft>
              <a:defRPr sz="1200">
                <a:solidFill>
                  <a:srgbClr val="17212B"/>
                </a:solidFill>
                <a:latin typeface="Montserrat"/>
              </a:defRPr>
            </a:pPr>
            <a:r>
              <a:t>•  не уточняет номер и статус вручную</a:t>
            </a:r>
          </a:p>
          <a:p>
            <a:pPr>
              <a:lnSpc>
                <a:spcPct val="105000"/>
              </a:lnSpc>
              <a:spcAft>
                <a:spcPts val="800"/>
              </a:spcAft>
              <a:defRPr sz="1200">
                <a:solidFill>
                  <a:srgbClr val="17212B"/>
                </a:solidFill>
                <a:latin typeface="Montserrat"/>
              </a:defRPr>
            </a:pPr>
            <a:r>
              <a:t>•  может безопасно повторить команду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600200"/>
            <a:ext cx="3401568" cy="3611880"/>
          </a:xfrm>
          <a:prstGeom prst="roundRect">
            <a:avLst/>
          </a:prstGeom>
          <a:solidFill>
            <a:srgbClr val="F3F6F8"/>
          </a:solidFill>
          <a:ln w="10160">
            <a:solidFill>
              <a:srgbClr val="D7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1847088"/>
            <a:ext cx="2834640" cy="36576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1">
                <a:solidFill>
                  <a:srgbClr val="17805E"/>
                </a:solidFill>
                <a:latin typeface="Montserrat"/>
              </a:rPr>
              <a:t>Производство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17720" y="2487168"/>
            <a:ext cx="2834640" cy="2057400"/>
          </a:xfrm>
          <a:prstGeom prst="rect">
            <a:avLst/>
          </a:prstGeom>
          <a:noFill/>
        </p:spPr>
        <p:txBody>
          <a:bodyPr wrap="none" lIns="18288" rIns="18288" tIns="18288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  <a:defRPr sz="1200">
                <a:solidFill>
                  <a:srgbClr val="17212B"/>
                </a:solidFill>
                <a:latin typeface="Montserrat"/>
              </a:defRPr>
            </a:pPr>
            <a:r>
              <a:t>•  работает в привычном ЗаказОбщий</a:t>
            </a:r>
          </a:p>
          <a:p>
            <a:pPr>
              <a:lnSpc>
                <a:spcPct val="105000"/>
              </a:lnSpc>
              <a:spcAft>
                <a:spcPts val="800"/>
              </a:spcAft>
              <a:defRPr sz="1200">
                <a:solidFill>
                  <a:srgbClr val="17212B"/>
                </a:solidFill>
                <a:latin typeface="Montserrat"/>
              </a:defRPr>
            </a:pPr>
            <a:r>
              <a:t>•  не открывает Bitrix24</a:t>
            </a:r>
          </a:p>
          <a:p>
            <a:pPr>
              <a:lnSpc>
                <a:spcPct val="105000"/>
              </a:lnSpc>
              <a:spcAft>
                <a:spcPts val="800"/>
              </a:spcAft>
              <a:defRPr sz="1200">
                <a:solidFill>
                  <a:srgbClr val="17212B"/>
                </a:solidFill>
                <a:latin typeface="Montserrat"/>
              </a:defRPr>
            </a:pPr>
            <a:r>
              <a:t>•  владеет статусами, сроками и суммой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59" y="1600200"/>
            <a:ext cx="3401568" cy="3611880"/>
          </a:xfrm>
          <a:prstGeom prst="roundRect">
            <a:avLst/>
          </a:prstGeom>
          <a:solidFill>
            <a:srgbClr val="F3F6F8"/>
          </a:solidFill>
          <a:ln w="10160">
            <a:solidFill>
              <a:srgbClr val="D7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66759" y="1847088"/>
            <a:ext cx="2834640" cy="36576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1">
                <a:solidFill>
                  <a:srgbClr val="1769AA"/>
                </a:solidFill>
                <a:latin typeface="Montserrat"/>
              </a:rPr>
              <a:t>Руководитель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59" y="2487168"/>
            <a:ext cx="2834640" cy="2057400"/>
          </a:xfrm>
          <a:prstGeom prst="rect">
            <a:avLst/>
          </a:prstGeom>
          <a:noFill/>
        </p:spPr>
        <p:txBody>
          <a:bodyPr wrap="none" lIns="18288" rIns="18288" tIns="18288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  <a:defRPr sz="1200">
                <a:solidFill>
                  <a:srgbClr val="17212B"/>
                </a:solidFill>
                <a:latin typeface="Montserrat"/>
              </a:defRPr>
            </a:pPr>
            <a:r>
              <a:t>•  видит однозначную связь сущностей</a:t>
            </a:r>
          </a:p>
          <a:p>
            <a:pPr>
              <a:lnSpc>
                <a:spcPct val="105000"/>
              </a:lnSpc>
              <a:spcAft>
                <a:spcPts val="800"/>
              </a:spcAft>
              <a:defRPr sz="1200">
                <a:solidFill>
                  <a:srgbClr val="17212B"/>
                </a:solidFill>
                <a:latin typeface="Montserrat"/>
              </a:defRPr>
            </a:pPr>
            <a:r>
              <a:t>•  отделяет бизнес-статус от ошибки</a:t>
            </a:r>
          </a:p>
          <a:p>
            <a:pPr>
              <a:lnSpc>
                <a:spcPct val="105000"/>
              </a:lnSpc>
              <a:spcAft>
                <a:spcPts val="800"/>
              </a:spcAft>
              <a:defRPr sz="1200">
                <a:solidFill>
                  <a:srgbClr val="17212B"/>
                </a:solidFill>
                <a:latin typeface="Montserrat"/>
              </a:defRPr>
            </a:pPr>
            <a:r>
              <a:t>•  может развивать контур поэтапно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687568"/>
            <a:ext cx="10789920" cy="38404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667085"/>
                </a:solidFill>
                <a:latin typeface="Montserrat"/>
              </a:rPr>
              <a:t>В кейсе не используются придуманные проценты роста или экономии: показан подтверждённый технический и качественный эффект.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528816"/>
            <a:ext cx="4114800" cy="20116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1">
                <a:solidFill>
                  <a:srgbClr val="667085"/>
                </a:solidFill>
                <a:latin typeface="Montserrat"/>
              </a:rPr>
              <a:t>WEBOPTIMIZE  •  WEBOPTIMIZE.RU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24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828800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1AC1C1"/>
                </a:solidFill>
                <a:latin typeface="Montserrat"/>
              </a:rPr>
              <a:t>РЕЗУЛЬТАТ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43000"/>
            <a:ext cx="6492240" cy="13258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FFFFFF"/>
                </a:solidFill>
                <a:latin typeface="Montserrat"/>
              </a:rPr>
              <a:t>Одна сделка соответствует
одному заказу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697480"/>
            <a:ext cx="7315200" cy="7315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>
                <a:solidFill>
                  <a:srgbClr val="D6E4EC"/>
                </a:solidFill>
                <a:latin typeface="Montserrat"/>
              </a:rPr>
              <a:t>Повтор безопасен, производственные данные возвращаются в CRM,
а база 1С остаётся закрытой.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4114800"/>
            <a:ext cx="2423160" cy="1234440"/>
          </a:xfrm>
          <a:prstGeom prst="roundRect">
            <a:avLst/>
          </a:prstGeom>
          <a:solidFill>
            <a:srgbClr val="1E314A"/>
          </a:solidFill>
          <a:ln w="10160">
            <a:solidFill>
              <a:srgbClr val="3B53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4343400"/>
            <a:ext cx="2057400" cy="34747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1">
                <a:solidFill>
                  <a:srgbClr val="1AC1C1"/>
                </a:solidFill>
                <a:latin typeface="Montserrat"/>
              </a:rPr>
              <a:t>1 ↔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4818888"/>
            <a:ext cx="2011680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C5D4DE"/>
                </a:solidFill>
                <a:latin typeface="Montserrat"/>
              </a:rPr>
              <a:t>устойчивая связь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4114800"/>
            <a:ext cx="2423160" cy="1234440"/>
          </a:xfrm>
          <a:prstGeom prst="roundRect">
            <a:avLst/>
          </a:prstGeom>
          <a:solidFill>
            <a:srgbClr val="1E314A"/>
          </a:solidFill>
          <a:ln w="10160">
            <a:solidFill>
              <a:srgbClr val="3B53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11880" y="4343400"/>
            <a:ext cx="2057400" cy="34747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1">
                <a:solidFill>
                  <a:srgbClr val="1AC1C1"/>
                </a:solidFill>
                <a:latin typeface="Montserrat"/>
              </a:rPr>
              <a:t>0 дублей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11880" y="4818888"/>
            <a:ext cx="2011680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C5D4DE"/>
                </a:solidFill>
                <a:latin typeface="Montserrat"/>
              </a:rPr>
              <a:t>при повторной отправке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4114800"/>
            <a:ext cx="2423160" cy="1234440"/>
          </a:xfrm>
          <a:prstGeom prst="roundRect">
            <a:avLst/>
          </a:prstGeom>
          <a:solidFill>
            <a:srgbClr val="1E314A"/>
          </a:solidFill>
          <a:ln w="10160">
            <a:solidFill>
              <a:srgbClr val="3B53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4343400"/>
            <a:ext cx="2057400" cy="34747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1">
                <a:solidFill>
                  <a:srgbClr val="1AC1C1"/>
                </a:solidFill>
                <a:latin typeface="Montserrat"/>
              </a:rPr>
              <a:t>HTTPS 443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4818888"/>
            <a:ext cx="2011680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C5D4DE"/>
                </a:solidFill>
                <a:latin typeface="Montserrat"/>
              </a:rPr>
              <a:t>только исходящий доступ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15400" y="4114800"/>
            <a:ext cx="2423160" cy="1234440"/>
          </a:xfrm>
          <a:prstGeom prst="roundRect">
            <a:avLst/>
          </a:prstGeom>
          <a:solidFill>
            <a:srgbClr val="1E314A"/>
          </a:solidFill>
          <a:ln w="10160">
            <a:solidFill>
              <a:srgbClr val="3B53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98280" y="4343400"/>
            <a:ext cx="2057400" cy="34747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1">
                <a:solidFill>
                  <a:srgbClr val="1AC1C1"/>
                </a:solidFill>
                <a:latin typeface="Montserrat"/>
              </a:rPr>
              <a:t>HEALTHY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98280" y="4818888"/>
            <a:ext cx="2011680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C5D4DE"/>
                </a:solidFill>
                <a:latin typeface="Montserrat"/>
              </a:rPr>
              <a:t>контроль состояния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355080"/>
            <a:ext cx="4114800" cy="2286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9DB0BF"/>
                </a:solidFill>
                <a:latin typeface="Montserrat"/>
              </a:rPr>
              <a:t>WEBOPTIMIZE  •  WEBOPTIMIZE.RU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pt-cont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