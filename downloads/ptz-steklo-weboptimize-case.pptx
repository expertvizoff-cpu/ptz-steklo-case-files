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РЕЗУЛЬТАТ СРАЗУ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008C8C"/>
                </a:solidFill>
                <a:latin typeface="Montserrat"/>
              </a:rPr>
              <a:t>15–25 / 2–3 мин</a:t>
            </a:r>
            <a:endParaRPr sz="24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7782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до / после • передача заказа и сверка статуса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7220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69AA"/>
                </a:solidFill>
                <a:latin typeface="Montserrat"/>
              </a:rPr>
              <a:t>−80–90%</a:t>
            </a:r>
            <a:endParaRPr sz="24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994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времени на одну операцию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805E"/>
                </a:solidFill>
                <a:latin typeface="Montserrat"/>
              </a:rPr>
              <a:t>94–156 ч/мес</a:t>
            </a:r>
            <a:endParaRPr sz="24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782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высвобождено рабочего времени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7220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D99400"/>
                </a:solidFill>
                <a:latin typeface="Montserrat"/>
              </a:rPr>
              <a:t>0,5–1 млн руб./год</a:t>
            </a:r>
            <a:endParaRPr sz="24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994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фактически полученная экономия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2"/>
            <a:ext cx="10908792" cy="69494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76088"/>
            <a:ext cx="104241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Новый сотрудник не потребовался • запас производительности 0,6–1 ставки • окупаемость 3–5 месяцев</a:t>
            </a:r>
            <a:endParaRPr sz="11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5916168"/>
            <a:ext cx="10789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Фактически полученный результат внедрения</a:t>
            </a:r>
            <a:endParaRPr sz="9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01</a:t>
            </a:r>
            <a:endParaRPr sz="10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59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5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Менеджер — в Bitrix24, производство — в 1С.</a:t>
            </a:r>
            <a:endParaRPr sz="11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02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90288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5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90288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Номер, статус, сроки и сумма уточняются отдельно.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03</a:t>
            </a:r>
            <a:endParaRPr sz="10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57615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5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57615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Повторная передача может создать второй заказ.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04</a:t>
            </a:r>
            <a:endParaRPr sz="10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59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5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59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Старую базу нельзя публиковать в интернет.</a:t>
            </a:r>
            <a:endParaRPr sz="11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05</a:t>
            </a:r>
            <a:endParaRPr sz="10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90288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Собственная форма заказа</a:t>
            </a:r>
            <a:endParaRPr sz="15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90288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Производство работает в привычном заказе 1С.</a:t>
            </a:r>
            <a:endParaRPr sz="11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06</a:t>
            </a:r>
            <a:endParaRPr sz="10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57615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Нет штатного коннектора</a:t>
            </a:r>
            <a:endParaRPr sz="15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57615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Устаревшая конфигурация требует отдельного адаптера.</a:t>
            </a:r>
            <a:endParaRPr sz="1100" b="0" i="0">
              <a:latin typeface="Montserrat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01568" cy="233172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008C8C"/>
                </a:solidFill>
                <a:latin typeface="Montserrat"/>
              </a:rPr>
              <a:t>BITRIX24</a:t>
            </a:r>
            <a:endParaRPr sz="14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50976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Сделка, контакт и команда менеджера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059936" y="2944368"/>
            <a:ext cx="420624" cy="109728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874519"/>
            <a:ext cx="3401568" cy="23317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6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769AA"/>
                </a:solidFill>
                <a:latin typeface="Montserrat"/>
              </a:rPr>
              <a:t>ЛОКАЛЬНЫЙ МОДУЛЬ</a:t>
            </a:r>
            <a:endParaRPr sz="14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73168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Связывает системы и автоматически повторяет обмен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882127" y="2944368"/>
            <a:ext cx="420624" cy="109728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02752" y="1874519"/>
            <a:ext cx="3401568" cy="2331720"/>
          </a:xfrm>
          <a:prstGeom prst="roundRect">
            <a:avLst/>
          </a:prstGeom>
          <a:solidFill>
            <a:srgbClr val="FFF5DC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D99400"/>
                </a:solidFill>
                <a:latin typeface="Montserrat"/>
              </a:rPr>
              <a:t>1С</a:t>
            </a:r>
            <a:endParaRPr sz="14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95360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Заказ, статус, срок и сумма</a:t>
            </a:r>
            <a:endParaRPr sz="14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261872" y="4892040"/>
            <a:ext cx="9674352" cy="68580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5102352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1С остаётся внутри компании • менеджер продолжает работать в Bitrix24</a:t>
            </a:r>
            <a:endParaRPr sz="12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ПУТЬ ПОЛЬЗОВАТЕЛЯ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5243A"/>
                </a:solidFill>
                <a:latin typeface="Montserrat"/>
              </a:rPr>
              <a:t>Пять шагов — от заполненной сделки до актуального статуса</a:t>
            </a:r>
            <a:endParaRPr sz="23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2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01</a:t>
            </a:r>
            <a:endParaRPr sz="18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Заполняет сделку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615184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26080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02</a:t>
            </a:r>
            <a:endParaRPr sz="18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80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Даёт команду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919472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0368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03</a:t>
            </a:r>
            <a:endParaRPr sz="18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58968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Заказ создаётся в 1С</a:t>
            </a:r>
            <a:endParaRPr sz="1400" b="0" i="0">
              <a:latin typeface="Montserra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23760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34656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7536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04</a:t>
            </a:r>
            <a:endParaRPr sz="18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63256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Производство выполняет заказ</a:t>
            </a:r>
            <a:endParaRPr sz="1400" b="0" i="0">
              <a:latin typeface="Montserrat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28048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8944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05</a:t>
            </a:r>
            <a:endParaRPr sz="18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067544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Результат виден в CRM</a:t>
            </a:r>
            <a:endParaRPr sz="1400" b="0" i="0">
              <a:latin typeface="Montserra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5696712"/>
            <a:ext cx="10881360" cy="53035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43016"/>
            <a:ext cx="10424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Менеджер работает в Bitrix24 • производство — в 1С • связь и обновления выполняются автоматически</a:t>
            </a:r>
            <a:endParaRPr sz="11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9808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D99400"/>
                </a:solidFill>
                <a:latin typeface="Montserrat"/>
              </a:rPr>
              <a:t>1С •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7008" y="2459736"/>
            <a:ext cx="31546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Статус
Срок готовности
Сумма
Сведения о переделке</a:t>
            </a:r>
            <a:endParaRPr sz="14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65776" y="2258568"/>
            <a:ext cx="2057400" cy="105156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2532888"/>
            <a:ext cx="161848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АВТОМАТИЧЕСКОЕ
ОБНОВЛЕНИЕ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70064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769AA"/>
                </a:solidFill>
                <a:latin typeface="Montserrat"/>
              </a:rPr>
              <a:t>BITRIX24 • МЕНЕДЖЕР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27264" y="2596896"/>
            <a:ext cx="31546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5243A"/>
                </a:solidFill>
                <a:latin typeface="Montserrat"/>
              </a:rPr>
              <a:t>Актуальный результат
виден в исходной сделке</a:t>
            </a:r>
            <a:endParaRPr sz="1600" b="0" i="0">
              <a:latin typeface="Montserra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18888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23176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98480" cy="86868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1С владеет производственным статусом, сроками, суммой и переделкой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модуль обмена проверяет только уже связанные заказы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вторая сделка и второй заказ не создаются</a:t>
            </a:r>
            <a:endParaRPr sz="11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Временная ошибка не превращается в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01</a:t>
            </a:r>
            <a:endParaRPr sz="16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01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Команда остаётся в очереди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089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02</a:t>
            </a:r>
            <a:endParaRPr sz="16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033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Обмен повторяется автоматически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8521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03</a:t>
            </a:r>
            <a:endParaRPr sz="16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465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Связь проверяется перед записью</a:t>
            </a:r>
            <a:endParaRPr sz="1400" b="0" i="0">
              <a:latin typeface="Montserra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5953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04</a:t>
            </a:r>
            <a:endParaRPr sz="16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897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Обновляется существующий заказ</a:t>
            </a:r>
            <a:endParaRPr sz="1400" b="0" i="0"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143000" y="4828032"/>
            <a:ext cx="9921240" cy="71323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5047488"/>
            <a:ext cx="9372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Временный сбой не останавливает процесс и не создаёт второй заказ</a:t>
            </a:r>
            <a:endParaRPr sz="12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РЕАЛИЗОВАНО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Что работает в ежедневном процессе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7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Заказ создаётся из сделки</a:t>
            </a:r>
            <a:endParaRPr sz="13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7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Автоматически</a:t>
            </a:r>
            <a:endParaRPr sz="9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08576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Повтор обновляет заказ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08576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Без дубля</a:t>
            </a:r>
            <a:endParaRPr sz="9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75904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Результат возвращается</a:t>
            </a:r>
            <a:endParaRPr sz="13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75904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В исходную сделку</a:t>
            </a:r>
            <a:endParaRPr sz="9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1247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Сбой обрабатывается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1247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С автоматическим повтором</a:t>
            </a:r>
            <a:endParaRPr sz="9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08576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Системы связаны</a:t>
            </a:r>
            <a:endParaRPr sz="13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08576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Одна сделка — один заказ</a:t>
            </a:r>
            <a:endParaRPr sz="9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75904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Обмен идёт по расписанию</a:t>
            </a:r>
            <a:endParaRPr sz="13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75904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Без ручного запуска</a:t>
            </a:r>
            <a:endParaRPr sz="900" b="0" i="0">
              <a:latin typeface="Montserra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40080" y="5559552"/>
            <a:ext cx="10881360" cy="60350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33288"/>
            <a:ext cx="10378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Менеджер видит исполнение заказа в Bitrix24, производство продолжает работать в 1С</a:t>
            </a:r>
            <a:endParaRPr sz="1000" b="0" i="0"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БИЗНЕС-РЕЗУЛЬТАТ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008C8C"/>
                </a:solidFill>
                <a:latin typeface="Montserrat"/>
              </a:rPr>
              <a:t>−80–90%</a:t>
            </a:r>
            <a:endParaRPr sz="24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7782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15–25 минут до • 2–3 минуты после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7220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69AA"/>
                </a:solidFill>
                <a:latin typeface="Montserrat"/>
              </a:rPr>
              <a:t>94–156 ч/мес</a:t>
            </a:r>
            <a:endParaRPr sz="24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994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высвобождено рабочего времени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805E"/>
                </a:solidFill>
                <a:latin typeface="Montserrat"/>
              </a:rPr>
              <a:t>0,6–1 ставки</a:t>
            </a:r>
            <a:endParaRPr sz="24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782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полученный запас производительности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7220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D99400"/>
                </a:solidFill>
                <a:latin typeface="Montserrat"/>
              </a:rPr>
              <a:t>0,5–1 млн руб.</a:t>
            </a:r>
            <a:endParaRPr sz="24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994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полученная экономия в год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2"/>
            <a:ext cx="10908792" cy="69494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76088"/>
            <a:ext cx="104241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Рост объёма заказов не потребовал найма дополнительного сотрудника • окупаемость проекта — 3–5 месяцев</a:t>
            </a:r>
            <a:endParaRPr sz="11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5916168"/>
            <a:ext cx="10789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Расчёт: 15–25 заказов в день, 22 рабочих дня, 17 минут экономии на заказ.</a:t>
            </a:r>
            <a:endParaRPr sz="9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492240" cy="1325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  <a:endParaRPr sz="3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73152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D6E4EC"/>
                </a:solidFill>
                <a:latin typeface="Montserrat"/>
              </a:rPr>
              <a:t>Компания сохранила текущий штат, ускорила работу сотрудников
и устранила повторный ввод между системами.</a:t>
            </a:r>
            <a:endParaRPr sz="17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до 1 млн руб.</a:t>
            </a:r>
            <a:endParaRPr sz="1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экономии в год</a:t>
            </a:r>
            <a:endParaRPr sz="10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290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3–5 мес</a:t>
            </a:r>
            <a:endParaRPr sz="19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118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окупаемость проекта</a:t>
            </a:r>
            <a:endParaRPr sz="10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0 новых</a:t>
            </a:r>
            <a:endParaRPr sz="19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550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сотрудников в штате</a:t>
            </a:r>
            <a:endParaRPr sz="10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154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0 дублей</a:t>
            </a:r>
            <a:endParaRPr sz="19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982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  <a:endParaRPr sz="10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