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КОНТЕКСТ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Индивидуальный заказ проходит длинный путь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02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16916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 i="0">
                <a:solidFill>
                  <a:srgbClr val="008C8C"/>
                </a:solidFill>
                <a:latin typeface="Montserrat"/>
              </a:rPr>
              <a:t>1998</a:t>
            </a:r>
            <a:endParaRPr sz="27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4671" y="23500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год начала работы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971800" y="160020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36392" y="1801368"/>
            <a:ext cx="16916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 i="0">
                <a:solidFill>
                  <a:srgbClr val="008C8C"/>
                </a:solidFill>
                <a:latin typeface="Montserrat"/>
              </a:rPr>
              <a:t>10 000+</a:t>
            </a:r>
            <a:endParaRPr sz="27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36392" y="23500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частных клиентов</a:t>
            </a:r>
            <a:endParaRPr sz="11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" y="324612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447288"/>
            <a:ext cx="16916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 i="0">
                <a:solidFill>
                  <a:srgbClr val="008C8C"/>
                </a:solidFill>
                <a:latin typeface="Montserrat"/>
              </a:rPr>
              <a:t>1 000+</a:t>
            </a:r>
            <a:endParaRPr sz="27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671" y="3995928"/>
            <a:ext cx="1691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организаций</a:t>
            </a:r>
            <a:endParaRPr sz="1100" b="0" i="0">
              <a:latin typeface="Montserra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971800" y="324612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36392" y="3447288"/>
            <a:ext cx="16916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 i="0">
                <a:solidFill>
                  <a:srgbClr val="008C8C"/>
                </a:solidFill>
                <a:latin typeface="Montserrat"/>
              </a:rPr>
              <a:t>500+</a:t>
            </a:r>
            <a:endParaRPr sz="27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36392" y="3995928"/>
            <a:ext cx="1691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постоянных клиентов</a:t>
            </a:r>
            <a:endParaRPr sz="1100" b="0" i="0">
              <a:latin typeface="Montserrat"/>
            </a:endParaRPr>
          </a:p>
        </p:txBody>
      </p:sp>
      <p:pic>
        <p:nvPicPr>
          <p:cNvPr id="17" name="Picture 16" descr="ptz-proj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581912"/>
            <a:ext cx="2926080" cy="2926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23960" y="1719072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ЗАМЕР</a:t>
            </a:r>
            <a:endParaRPr sz="11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823960" y="2240280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→ РАСЧЁТ</a:t>
            </a:r>
            <a:endParaRPr sz="13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823960" y="2761488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→ ПРОИЗВОДСТВО</a:t>
            </a:r>
            <a:endParaRPr sz="1300" b="0" i="0">
              <a:latin typeface="Montserra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823960" y="3282696"/>
            <a:ext cx="17373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→ ДОСТАВКА</a:t>
            </a:r>
            <a:endParaRPr sz="13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823960" y="3803904"/>
            <a:ext cx="1554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→ МОНТАЖ</a:t>
            </a:r>
            <a:endParaRPr sz="13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65836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Источник показателей: официальный сайт СтеклоЦентр.ПТЗ</a:t>
            </a:r>
            <a:endParaRPr sz="900" b="0" i="0">
              <a:latin typeface="Montserra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ЗАДАЧА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Между сделкой и производством был разрыв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03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6479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01</a:t>
            </a:r>
            <a:endParaRPr sz="10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59" y="2130552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Два рабочих пространства</a:t>
            </a:r>
            <a:endParaRPr sz="1500" b="0" i="0"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253288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Менеджер — в Bitrix24, производство — в 1С.</a:t>
            </a:r>
            <a:endParaRPr sz="1100" b="0" i="0">
              <a:latin typeface="Montserra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07408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76479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02</a:t>
            </a:r>
            <a:endParaRPr sz="10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90288" y="2130552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Ручная сверка</a:t>
            </a:r>
            <a:endParaRPr sz="15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90288" y="253288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Номер, статус, сроки и сумма уточняются отдельно.</a:t>
            </a:r>
            <a:endParaRPr sz="11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74736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5" y="176479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03</a:t>
            </a:r>
            <a:endParaRPr sz="10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57615" y="2130552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Риск дубля</a:t>
            </a:r>
            <a:endParaRPr sz="15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57615" y="253288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Повторная передача может создать второй заказ.</a:t>
            </a:r>
            <a:endParaRPr sz="1100" b="0" i="0">
              <a:latin typeface="Montserrat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373075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04</a:t>
            </a:r>
            <a:endParaRPr sz="10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959" y="4096511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Закрытая 1С</a:t>
            </a:r>
            <a:endParaRPr sz="15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59" y="449884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Старую базу нельзя публиковать в интернет.</a:t>
            </a:r>
            <a:endParaRPr sz="1100" b="0" i="0">
              <a:latin typeface="Montserrat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407408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373075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05</a:t>
            </a:r>
            <a:endParaRPr sz="10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590288" y="4096511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Собственная форма заказа</a:t>
            </a:r>
            <a:endParaRPr sz="1500" b="0" i="0">
              <a:latin typeface="Montserra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90288" y="449884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Производство работает в привычном заказе 1С.</a:t>
            </a:r>
            <a:endParaRPr sz="1100" b="0" i="0">
              <a:latin typeface="Montserrat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174736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73075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06</a:t>
            </a:r>
            <a:endParaRPr sz="10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357615" y="4096511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Нет штатного коннектора</a:t>
            </a:r>
            <a:endParaRPr sz="15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57615" y="449884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Устаревшая конфигурация требует отдельного адаптера.</a:t>
            </a:r>
            <a:endParaRPr sz="1100" b="0" i="0">
              <a:latin typeface="Montserrat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КАК УСТРОЕНО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5243A"/>
                </a:solidFill>
                <a:latin typeface="Montserrat"/>
              </a:rPr>
              <a:t>1С остаётся закрытой, обмен идёт через сервер компании</a:t>
            </a:r>
            <a:endParaRPr sz="24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04</a:t>
            </a:r>
            <a:endParaRPr sz="1200" b="0" i="0"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94360" y="1508760"/>
            <a:ext cx="10972800" cy="3611880"/>
          </a:xfrm>
          <a:prstGeom prst="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27632"/>
            <a:ext cx="10881360" cy="3284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376672"/>
            <a:ext cx="32461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08C8C"/>
                </a:solidFill>
                <a:latin typeface="Montserrat"/>
              </a:rPr>
              <a:t>Защищённая связь</a:t>
            </a:r>
            <a:endParaRPr sz="1300" b="0" i="0"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5733288"/>
            <a:ext cx="3246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обмен идёт через сервер компании</a:t>
            </a:r>
            <a:endParaRPr sz="1000" b="0" i="0"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43400" y="5376672"/>
            <a:ext cx="32461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08C8C"/>
                </a:solidFill>
                <a:latin typeface="Montserrat"/>
              </a:rPr>
              <a:t>Доступы защищены</a:t>
            </a:r>
            <a:endParaRPr sz="13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43400" y="5733288"/>
            <a:ext cx="3246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хранятся только на сервере</a:t>
            </a:r>
            <a:endParaRPr sz="10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46719" y="5376672"/>
            <a:ext cx="32461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08C8C"/>
                </a:solidFill>
                <a:latin typeface="Montserrat"/>
              </a:rPr>
              <a:t>Закрытая 1С</a:t>
            </a:r>
            <a:endParaRPr sz="13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46719" y="5733288"/>
            <a:ext cx="3246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база недоступна из интернета</a:t>
            </a:r>
            <a:endParaRPr sz="10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ПУТЬ ПОЛЬЗОВАТЕЛЯ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5243A"/>
                </a:solidFill>
                <a:latin typeface="Montserrat"/>
              </a:rPr>
              <a:t>Пять шагов — от заполненной сделки до актуального статуса</a:t>
            </a:r>
            <a:endParaRPr sz="23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05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01-use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11064240" cy="38863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696712"/>
            <a:ext cx="10881360" cy="530352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843016"/>
            <a:ext cx="104241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Менеджер работает в Bitrix24 • производство — в 1С • связь и обновления выполняются автоматически</a:t>
            </a:r>
            <a:endParaRPr sz="1100" b="0" i="0"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ОБРАТНЫЙ ОБМЕН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Изменения 1С возвращаются в исходную сделку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06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03-reverse-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27632"/>
            <a:ext cx="10927080" cy="320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230368"/>
            <a:ext cx="10698480" cy="868680"/>
          </a:xfrm>
          <a:prstGeom prst="rect">
            <a:avLst/>
          </a:prstGeom>
          <a:noFill/>
        </p:spPr>
        <p:txBody>
          <a:bodyPr wrap="square" lIns="18288" rIns="18288" tIns="18288">
            <a:no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1С владеет производственным статусом, сроками, суммой и переделкой</a:t>
            </a:r>
            <a:endParaRPr sz="11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модуль обмена проверяет только уже связанные заказы</a:t>
            </a:r>
            <a:endParaRPr sz="11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вторая сделка и второй заказ не создаются</a:t>
            </a:r>
            <a:endParaRPr sz="11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НАДЁЖНОСТЬ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Временная ошибка не превращается в дубль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07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04-retry-pro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18488"/>
            <a:ext cx="10881360" cy="222387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4370832"/>
            <a:ext cx="2468880" cy="96012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526280"/>
            <a:ext cx="32918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69AA"/>
                </a:solidFill>
                <a:latin typeface="Montserrat"/>
              </a:rPr>
              <a:t>01</a:t>
            </a:r>
            <a:endParaRPr sz="900" b="0" i="0"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70431" y="4498848"/>
            <a:ext cx="1755648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Команда остаётся в очереди</a:t>
            </a:r>
            <a:endParaRPr sz="1100" b="0" i="0">
              <a:latin typeface="Montserra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383280" y="4370832"/>
            <a:ext cx="2468880" cy="96012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4526280"/>
            <a:ext cx="32918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69AA"/>
                </a:solidFill>
                <a:latin typeface="Montserrat"/>
              </a:rPr>
              <a:t>02</a:t>
            </a:r>
            <a:endParaRPr sz="9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913632" y="4498848"/>
            <a:ext cx="1755648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Повтор ограничен по числу попыток</a:t>
            </a:r>
            <a:endParaRPr sz="1100" b="0" i="0">
              <a:latin typeface="Montserrat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26480" y="4370832"/>
            <a:ext cx="2468880" cy="96012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4526280"/>
            <a:ext cx="32918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69AA"/>
                </a:solidFill>
                <a:latin typeface="Montserrat"/>
              </a:rPr>
              <a:t>03</a:t>
            </a:r>
            <a:endParaRPr sz="900" b="0" i="0"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56832" y="4498848"/>
            <a:ext cx="1755648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Связь проверяется перед записью</a:t>
            </a:r>
            <a:endParaRPr sz="1100" b="0" i="0">
              <a:latin typeface="Montserrat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869680" y="4370832"/>
            <a:ext cx="2468880" cy="96012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5984" y="4526280"/>
            <a:ext cx="329184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69AA"/>
                </a:solidFill>
                <a:latin typeface="Montserrat"/>
              </a:rPr>
              <a:t>04</a:t>
            </a:r>
            <a:endParaRPr sz="900" b="0" i="0"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400032" y="4498848"/>
            <a:ext cx="1755648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Обновляется существующий заказ</a:t>
            </a:r>
            <a:endParaRPr sz="1100" b="0" i="0"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0080" y="5797296"/>
            <a:ext cx="9601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Журнал обмена не содержит адрес подключения, пароль 1С или персональные данные.</a:t>
            </a:r>
            <a:endParaRPr sz="10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ПРОВЕРКА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Что проверено на тестовой копии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08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7393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ПРОВЕРЕНО</a:t>
            </a:r>
            <a:endParaRPr sz="9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41247" y="2130552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Заказ создан из сделки</a:t>
            </a:r>
            <a:endParaRPr sz="1300" b="0" i="0"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1247" y="268833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Проверка пройдена</a:t>
            </a:r>
            <a:endParaRPr sz="900" b="0" i="0">
              <a:latin typeface="Montserra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07408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77393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ПРОВЕРЕНО</a:t>
            </a:r>
            <a:endParaRPr sz="9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08576" y="2130552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Обновлён тот же заказ</a:t>
            </a:r>
            <a:endParaRPr sz="13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08576" y="268833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Дубль не создан</a:t>
            </a:r>
            <a:endParaRPr sz="9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74736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77393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ПРОВЕРЕНО</a:t>
            </a:r>
            <a:endParaRPr sz="9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75904" y="2130552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Статус вернулся в Bitrix24</a:t>
            </a:r>
            <a:endParaRPr sz="13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75904" y="268833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Проверка пройдена</a:t>
            </a:r>
            <a:endParaRPr sz="900" b="0" i="0">
              <a:latin typeface="Montserrat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69417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ПРОВЕРЕНО</a:t>
            </a:r>
            <a:endParaRPr sz="9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41247" y="4050791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Повтор после ошибки</a:t>
            </a:r>
            <a:endParaRPr sz="13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1247" y="460857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Дубль не создан</a:t>
            </a:r>
            <a:endParaRPr sz="900" b="0" i="0">
              <a:latin typeface="Montserrat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407408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369417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ПРОВЕРЕНО</a:t>
            </a:r>
            <a:endParaRPr sz="9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08576" y="4050791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Связь с системами работает</a:t>
            </a:r>
            <a:endParaRPr sz="1300" b="0" i="0">
              <a:latin typeface="Montserra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08576" y="460857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Работает штатно</a:t>
            </a:r>
            <a:endParaRPr sz="900" b="0" i="0">
              <a:latin typeface="Montserrat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174736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75904" y="369417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ПРОВЕРЕНО</a:t>
            </a:r>
            <a:endParaRPr sz="9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375904" y="4050791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Плановый обмен выполнен</a:t>
            </a:r>
            <a:endParaRPr sz="13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75904" y="460857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Без ошибок</a:t>
            </a:r>
            <a:endParaRPr sz="900" b="0" i="0">
              <a:latin typeface="Montserrat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40080" y="5559552"/>
            <a:ext cx="10881360" cy="603504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733288"/>
            <a:ext cx="10378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Обмен между системами проверен. Перед рабочим запуском решение отдельно проверяется на платформе клиента.</a:t>
            </a:r>
            <a:endParaRPr sz="1000" b="0" i="0">
              <a:latin typeface="Montserra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ЭФФЕКТ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Каждый участник остаётся в своей системе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09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401568" cy="361188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47088"/>
            <a:ext cx="28346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008C8C"/>
                </a:solidFill>
                <a:latin typeface="Montserrat"/>
              </a:rPr>
              <a:t>Менеджер</a:t>
            </a:r>
            <a:endParaRPr sz="19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2487168"/>
            <a:ext cx="2834640" cy="2057400"/>
          </a:xfrm>
          <a:prstGeom prst="rect">
            <a:avLst/>
          </a:prstGeom>
          <a:noFill/>
        </p:spPr>
        <p:txBody>
          <a:bodyPr wrap="square" lIns="18288" rIns="18288" tIns="18288">
            <a:no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rPr sz="1200" b="0" i="0">
                <a:latin typeface="Montserrat"/>
              </a:rPr>
              <a:t>•  видит исполнение в одной карточке</a:t>
            </a:r>
            <a:endParaRPr sz="12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rPr sz="1200" b="0" i="0">
                <a:latin typeface="Montserrat"/>
              </a:rPr>
              <a:t>•  не уточняет номер и статус вручную</a:t>
            </a:r>
            <a:endParaRPr sz="12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rPr sz="1200" b="0" i="0">
                <a:latin typeface="Montserrat"/>
              </a:rPr>
              <a:t>•  может безопасно повторить команду</a:t>
            </a:r>
            <a:endParaRPr sz="12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89120" y="1600200"/>
            <a:ext cx="3401568" cy="361188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47088"/>
            <a:ext cx="28346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7805E"/>
                </a:solidFill>
                <a:latin typeface="Montserrat"/>
              </a:rPr>
              <a:t>Производство</a:t>
            </a:r>
            <a:endParaRPr sz="19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17720" y="2487168"/>
            <a:ext cx="2834640" cy="2057400"/>
          </a:xfrm>
          <a:prstGeom prst="rect">
            <a:avLst/>
          </a:prstGeom>
          <a:noFill/>
        </p:spPr>
        <p:txBody>
          <a:bodyPr wrap="square" lIns="18288" rIns="18288" tIns="18288">
            <a:no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rPr sz="1200" b="0" i="0">
                <a:latin typeface="Montserrat"/>
              </a:rPr>
              <a:t>•  работает с привычным заказом 1С</a:t>
            </a:r>
            <a:endParaRPr sz="12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rPr sz="1200" b="0" i="0">
                <a:latin typeface="Montserrat"/>
              </a:rPr>
              <a:t>•  не открывает Bitrix24</a:t>
            </a:r>
            <a:endParaRPr sz="12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rPr sz="1200" b="0" i="0">
                <a:latin typeface="Montserrat"/>
              </a:rPr>
              <a:t>•  владеет статусами, сроками и суммой</a:t>
            </a:r>
            <a:endParaRPr sz="12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138159" y="1600200"/>
            <a:ext cx="3401568" cy="361188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59" y="1847088"/>
            <a:ext cx="28346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769AA"/>
                </a:solidFill>
                <a:latin typeface="Montserrat"/>
              </a:rPr>
              <a:t>Руководитель</a:t>
            </a:r>
            <a:endParaRPr sz="19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66759" y="2487168"/>
            <a:ext cx="2834640" cy="2057400"/>
          </a:xfrm>
          <a:prstGeom prst="rect">
            <a:avLst/>
          </a:prstGeom>
          <a:noFill/>
        </p:spPr>
        <p:txBody>
          <a:bodyPr wrap="square" lIns="18288" rIns="18288" tIns="18288">
            <a:no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rPr sz="1200" b="0" i="0">
                <a:latin typeface="Montserrat"/>
              </a:rPr>
              <a:t>•  видит связь сделки и заказа</a:t>
            </a:r>
            <a:endParaRPr sz="12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rPr sz="1200" b="0" i="0">
                <a:latin typeface="Montserrat"/>
              </a:rPr>
              <a:t>•  отделяет бизнес-статус от ошибки</a:t>
            </a:r>
            <a:endParaRPr sz="12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rPr sz="1200" b="0" i="0">
                <a:latin typeface="Montserrat"/>
              </a:rPr>
              <a:t>•  может развивать решение поэтапно</a:t>
            </a:r>
            <a:endParaRPr sz="1200" b="0" i="0"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5800" y="5687568"/>
            <a:ext cx="107899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В кейсе нет придуманных процентов роста или экономии: показаны проверенная работоспособность и практический эффект.</a:t>
            </a:r>
            <a:endParaRPr sz="10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AC1C1"/>
                </a:solidFill>
                <a:latin typeface="Montserrat"/>
              </a:rPr>
              <a:t>РЕЗУЛЬТАТ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6492240" cy="1325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FFFFFF"/>
                </a:solidFill>
                <a:latin typeface="Montserrat"/>
              </a:rPr>
              <a:t>Одна сделка соответствует
одному заказу</a:t>
            </a:r>
            <a:endParaRPr sz="3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697480"/>
            <a:ext cx="73152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D6E4EC"/>
                </a:solidFill>
                <a:latin typeface="Montserrat"/>
              </a:rPr>
              <a:t>Повтор безопасен, производственные данные возвращаются в Bitrix24,
а база 1С остаётся закрытой.</a:t>
            </a:r>
            <a:endParaRPr sz="17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1 к 1</a:t>
            </a:r>
            <a:endParaRPr sz="19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одна сделка — один заказ</a:t>
            </a:r>
            <a:endParaRPr sz="10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4290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0 дублей</a:t>
            </a:r>
            <a:endParaRPr sz="19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118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при повторной отправке</a:t>
            </a:r>
            <a:endParaRPr sz="10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Закрытая 1С</a:t>
            </a:r>
            <a:endParaRPr sz="19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550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входящий доступ не нужен</a:t>
            </a:r>
            <a:endParaRPr sz="1000" b="0" i="0">
              <a:latin typeface="Montserra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9154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Работает</a:t>
            </a:r>
            <a:endParaRPr sz="19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982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состояние проверено</a:t>
            </a:r>
            <a:endParaRPr sz="1000" b="0" i="0"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5800" y="6355080"/>
            <a:ext cx="4114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DB0BF"/>
                </a:solidFill>
                <a:latin typeface="Montserrat"/>
              </a:rPr>
              <a:t>WEBOPTIMIZE  •  WEBOPTIMIZE.RU</a:t>
            </a:r>
            <a:endParaRPr sz="900" b="0" i="0">
              <a:latin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