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РЕЗУЛЬТАТ СРАЗУ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02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result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ЗАДАЧА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Между сделкой и производством был разрыв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03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4251960" cy="45262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" y="5138928"/>
            <a:ext cx="3840480" cy="658368"/>
          </a:xfrm>
          <a:prstGeom prst="round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5340096"/>
            <a:ext cx="3474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ИНДИВИДУАЛЬНОЕ ПРОИЗВОДСТВО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230368" y="1554480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230368" y="1554480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73736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01</a:t>
            </a:r>
            <a:endParaRPr sz="1000" b="0" i="0"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80760" y="1673352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Два рабочих пространства</a:t>
            </a:r>
            <a:endParaRPr sz="14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Менеджер работает в Bitrix24, производство — в 1С.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230368" y="2670048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285292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02</a:t>
            </a:r>
            <a:endParaRPr sz="1000" b="0" i="0">
              <a:latin typeface="Montserrat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0760" y="2788920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Ручная сверка</a:t>
            </a:r>
            <a:endParaRPr sz="14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080760" y="3127248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Статус, срок и сумма уточняются между сотрудниками.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230368" y="3785615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30368" y="3785615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3968496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03</a:t>
            </a:r>
            <a:endParaRPr sz="10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080760" y="3904487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Риск дубля</a:t>
            </a:r>
            <a:endParaRPr sz="14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080760" y="4242816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Повторная передача могла создать второй заказ.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230368" y="4901184"/>
            <a:ext cx="6309360" cy="8961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30368" y="4901184"/>
            <a:ext cx="146304" cy="896112"/>
          </a:xfrm>
          <a:prstGeom prst="rect">
            <a:avLst/>
          </a:prstGeom>
          <a:solidFill>
            <a:srgbClr val="C74B50"/>
          </a:solidFill>
          <a:ln w="10160">
            <a:solidFill>
              <a:srgbClr val="C74B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9552" y="5084064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74B50"/>
                </a:solidFill>
                <a:latin typeface="Montserrat"/>
              </a:rPr>
              <a:t>04</a:t>
            </a:r>
            <a:endParaRPr sz="10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80760" y="5020056"/>
            <a:ext cx="4892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Закрытая 1С</a:t>
            </a:r>
            <a:endParaRPr sz="14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080760" y="5358384"/>
            <a:ext cx="493776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67085"/>
                </a:solidFill>
                <a:latin typeface="Montserrat"/>
              </a:rPr>
              <a:t>Базу нельзя публиковать в интернет.</a:t>
            </a:r>
            <a:endParaRPr sz="11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КАК УСТРОЕНО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1С остаётся закрытой, обмен идёт через сервер компании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04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rocess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34750"/>
            <a:ext cx="11018520" cy="48206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ИНТЕРФЕЙС ПРОЦЕССА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Менеджер видит заказ, не переходя в 1С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05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interfac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723" y="1298448"/>
            <a:ext cx="10741793" cy="5102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ОБРАТНЫЙ ОБМЕН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Изменения 1С возвращаются в исходную сделку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06</a:t>
            </a:r>
            <a:endParaRPr sz="1200" b="0" i="0">
              <a:latin typeface="Montserrat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49808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D99400"/>
                </a:solidFill>
                <a:latin typeface="Montserrat"/>
              </a:rPr>
              <a:t>1С • ПРОИЗВОДСТВО</a:t>
            </a:r>
            <a:endParaRPr sz="1300" b="0" i="0"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07008" y="2459736"/>
            <a:ext cx="31546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5243A"/>
                </a:solidFill>
                <a:latin typeface="Montserrat"/>
              </a:rPr>
              <a:t>Статус
Срок готовности
Сумма
Сведения о переделке</a:t>
            </a:r>
            <a:endParaRPr sz="14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65776" y="2258568"/>
            <a:ext cx="2057400" cy="1051560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5232" y="2532888"/>
            <a:ext cx="1618488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АВТОМАТИЧЕСКОЕ
ОБНОВЛЕНИЕ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7370064" y="1627632"/>
            <a:ext cx="4069080" cy="23957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901952"/>
            <a:ext cx="352044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769AA"/>
                </a:solidFill>
                <a:latin typeface="Montserrat"/>
              </a:rPr>
              <a:t>BITRIX24 • МЕНЕДЖЕР</a:t>
            </a:r>
            <a:endParaRPr sz="13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27264" y="2596896"/>
            <a:ext cx="31546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15243A"/>
                </a:solidFill>
                <a:latin typeface="Montserrat"/>
              </a:rPr>
              <a:t>Актуальный результат
виден в исходной сделке</a:t>
            </a:r>
            <a:endParaRPr sz="1600" b="0" i="0">
              <a:latin typeface="Montserra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818888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23176" y="2743200"/>
            <a:ext cx="246888" cy="91440"/>
          </a:xfrm>
          <a:prstGeom prst="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3544" y="4828032"/>
            <a:ext cx="438912" cy="438912"/>
          </a:xfrm>
          <a:prstGeom prst="roundRect">
            <a:avLst/>
          </a:prstGeom>
          <a:solidFill>
            <a:srgbClr val="D99400"/>
          </a:solidFill>
          <a:ln w="10160">
            <a:solidFill>
              <a:srgbClr val="D99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01</a:t>
            </a:r>
            <a:endParaRPr sz="9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90472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1С хранит статус, срок, сумму и переделку</a:t>
            </a:r>
            <a:endParaRPr sz="1100" b="0" i="0">
              <a:latin typeface="Montserrat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07992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54296" y="4828032"/>
            <a:ext cx="438912" cy="438912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2583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02</a:t>
            </a:r>
            <a:endParaRPr sz="9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221224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Модуль проверяет только связанные заказы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238744" y="4645152"/>
            <a:ext cx="3401568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85048" y="4828032"/>
            <a:ext cx="438912" cy="438912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03336" y="4928616"/>
            <a:ext cx="402336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FFFFFF"/>
                </a:solidFill>
                <a:latin typeface="Montserrat"/>
              </a:rPr>
              <a:t>03</a:t>
            </a:r>
            <a:endParaRPr sz="900" b="0" i="0">
              <a:latin typeface="Montserra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51976" y="4791456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Повтор обновляет заказ без дубля</a:t>
            </a:r>
            <a:endParaRPr sz="1100" b="0" i="0">
              <a:latin typeface="Montserra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НАДЁЖНОСТЬ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Временный сбой не создаёт дубль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07</a:t>
            </a:r>
            <a:endParaRPr sz="1200" b="0" i="0"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234440" y="2240280"/>
            <a:ext cx="9646920" cy="54864"/>
          </a:xfrm>
          <a:prstGeom prst="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36192" y="1901952"/>
            <a:ext cx="676656" cy="676656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01</a:t>
            </a:r>
            <a:endParaRPr sz="1100" b="0" i="0">
              <a:latin typeface="Montserrat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Команда не теряется</a:t>
            </a:r>
            <a:endParaRPr sz="1300" b="0" i="0"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961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остаётся в очереди</a:t>
            </a:r>
            <a:endParaRPr sz="1000" b="0" i="0">
              <a:latin typeface="Montserrat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279392" y="1901952"/>
            <a:ext cx="676656" cy="676656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02</a:t>
            </a:r>
            <a:endParaRPr sz="11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832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Система пробует снова</a:t>
            </a:r>
            <a:endParaRPr sz="13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6393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автоматически</a:t>
            </a:r>
            <a:endParaRPr sz="10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022592" y="1901952"/>
            <a:ext cx="676656" cy="676656"/>
          </a:xfrm>
          <a:prstGeom prst="roundRect">
            <a:avLst/>
          </a:prstGeom>
          <a:solidFill>
            <a:srgbClr val="1769AA"/>
          </a:solidFill>
          <a:ln w="10160">
            <a:solidFill>
              <a:srgbClr val="1769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03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264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Связь проверяется</a:t>
            </a:r>
            <a:endParaRPr sz="1300" b="0" i="0">
              <a:latin typeface="Montserrat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382512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перед записью</a:t>
            </a:r>
            <a:endParaRPr sz="1000" b="0" i="0">
              <a:latin typeface="Montserrat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765792" y="1901952"/>
            <a:ext cx="676656" cy="676656"/>
          </a:xfrm>
          <a:prstGeom prst="roundRect">
            <a:avLst/>
          </a:prstGeom>
          <a:solidFill>
            <a:srgbClr val="008C8C"/>
          </a:solidFill>
          <a:ln w="10160">
            <a:solidFill>
              <a:srgbClr val="008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09397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FFFFFF"/>
                </a:solidFill>
                <a:latin typeface="Montserrat"/>
              </a:rPr>
              <a:t>04</a:t>
            </a:r>
            <a:endParaRPr sz="1100" b="0" i="0">
              <a:latin typeface="Montserrat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869680" y="2761488"/>
            <a:ext cx="2468880" cy="1261872"/>
          </a:xfrm>
          <a:prstGeom prst="roundRect">
            <a:avLst/>
          </a:prstGeom>
          <a:solidFill>
            <a:srgbClr val="E8F2FB"/>
          </a:solidFill>
          <a:ln w="10160">
            <a:solidFill>
              <a:srgbClr val="C9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990088"/>
            <a:ext cx="202996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15243A"/>
                </a:solidFill>
                <a:latin typeface="Montserrat"/>
              </a:rPr>
              <a:t>Заказ обновляется</a:t>
            </a:r>
            <a:endParaRPr sz="1300" b="0" i="0">
              <a:latin typeface="Montserrat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125711" y="3456432"/>
            <a:ext cx="195681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667085"/>
                </a:solidFill>
                <a:latin typeface="Montserrat"/>
              </a:rPr>
              <a:t>вместо создания нового</a:t>
            </a:r>
            <a:endParaRPr sz="1000" b="0" i="0">
              <a:latin typeface="Montserrat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143000" y="4828032"/>
            <a:ext cx="9921240" cy="713232"/>
          </a:xfrm>
          <a:prstGeom prst="roundRect">
            <a:avLst/>
          </a:prstGeom>
          <a:solidFill>
            <a:srgbClr val="E7F6F5"/>
          </a:solidFill>
          <a:ln w="10160">
            <a:solidFill>
              <a:srgbClr val="C4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5047488"/>
            <a:ext cx="93726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008C8C"/>
                </a:solidFill>
                <a:latin typeface="Montserrat"/>
              </a:rPr>
              <a:t>Временный сбой не останавливает процесс и не создаёт второй заказ</a:t>
            </a:r>
            <a:endParaRPr sz="1200" b="0" i="0">
              <a:latin typeface="Montserra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В РАБОЧЕМ ПРОЦЕССЕ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5243A"/>
                </a:solidFill>
                <a:latin typeface="Montserrat"/>
              </a:rPr>
              <a:t>Интеграция поддерживает индивидуальное производство</a:t>
            </a:r>
            <a:endParaRPr sz="24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08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photo-coll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33036"/>
            <a:ext cx="7909560" cy="444912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96528" y="1572768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97696" y="1755648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25128" y="1856231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01</a:t>
            </a:r>
            <a:endParaRPr sz="800" b="0" i="0"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8048" y="1719072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Заказ создаётся из сделки</a:t>
            </a:r>
            <a:endParaRPr sz="11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796528" y="2560320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97696" y="2743200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5128" y="2843784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02</a:t>
            </a:r>
            <a:endParaRPr sz="800" b="0" i="0">
              <a:latin typeface="Montserrat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528048" y="2706624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Повтор обновляет заказ без дубля</a:t>
            </a:r>
            <a:endParaRPr sz="1100" b="0" i="0">
              <a:latin typeface="Montserrat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796528" y="3547872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97696" y="3730752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25128" y="3831335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03</a:t>
            </a:r>
            <a:endParaRPr sz="800" b="0" i="0"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8048" y="3694176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Статус возвращается в Bitrix24</a:t>
            </a:r>
            <a:endParaRPr sz="1100" b="0" i="0">
              <a:latin typeface="Montserrat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96528" y="4535424"/>
            <a:ext cx="274320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9E3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97696" y="4718304"/>
            <a:ext cx="384048" cy="384048"/>
          </a:xfrm>
          <a:prstGeom prst="roundRect">
            <a:avLst/>
          </a:prstGeom>
          <a:solidFill>
            <a:srgbClr val="17805E"/>
          </a:solidFill>
          <a:ln w="10160">
            <a:solidFill>
              <a:srgbClr val="1780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25128" y="4818888"/>
            <a:ext cx="329184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800" b="0" i="0">
                <a:solidFill>
                  <a:srgbClr val="FFFFFF"/>
                </a:solidFill>
                <a:latin typeface="Montserrat"/>
              </a:rPr>
              <a:t>04</a:t>
            </a:r>
            <a:endParaRPr sz="800" b="0" i="0">
              <a:latin typeface="Montserra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528048" y="4681728"/>
            <a:ext cx="1810512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5243A"/>
                </a:solidFill>
                <a:latin typeface="Montserrat"/>
              </a:rPr>
              <a:t>Производство продолжает работать в 1С</a:t>
            </a:r>
            <a:endParaRPr sz="1100" b="0" i="0">
              <a:latin typeface="Montserra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" y="5989320"/>
            <a:ext cx="745236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008C8C"/>
                </a:solidFill>
                <a:latin typeface="Montserrat"/>
              </a:rPr>
              <a:t>РЕАЛЬНЫЕ РАБОТЫ СТЕКЛОЦЕНТР.ПТЗ</a:t>
            </a:r>
            <a:endParaRPr sz="900" b="0" i="0">
              <a:latin typeface="Montserra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25603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008C8C"/>
                </a:solidFill>
                <a:latin typeface="Montserrat"/>
              </a:rPr>
              <a:t>БИЗНЕС-РЕЗУЛЬТАТ</a:t>
            </a:r>
            <a:endParaRPr sz="1100" b="0" i="0">
              <a:latin typeface="Montserra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996696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5243A"/>
                </a:solidFill>
                <a:latin typeface="Montserrat"/>
              </a:rPr>
              <a:t>Полученная экономия и рост производительности</a:t>
            </a:r>
            <a:endParaRPr sz="2600" b="0" i="0"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347472"/>
            <a:ext cx="502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67085"/>
                </a:solidFill>
                <a:latin typeface="Montserrat"/>
              </a:rPr>
              <a:t>09</a:t>
            </a:r>
            <a:endParaRPr sz="1200" b="0" i="0">
              <a:latin typeface="Montserrat"/>
            </a:endParaRPr>
          </a:p>
        </p:txBody>
      </p:sp>
      <p:pic>
        <p:nvPicPr>
          <p:cNvPr id="5" name="Picture 4" descr="business-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31" y="1307592"/>
            <a:ext cx="10549288" cy="5010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528816"/>
            <a:ext cx="41148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667085"/>
                </a:solidFill>
                <a:latin typeface="Montserrat"/>
              </a:rPr>
              <a:t>WEBOPTIMIZE  •  WEBOPTIMIZE.RU</a:t>
            </a:r>
            <a:endParaRPr sz="800" b="0" i="0">
              <a:latin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4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0"/>
            <a:ext cx="46451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269480" y="0"/>
            <a:ext cx="384048" cy="6858000"/>
          </a:xfrm>
          <a:prstGeom prst="rect">
            <a:avLst/>
          </a:prstGeom>
          <a:solidFill>
            <a:srgbClr val="15243A"/>
          </a:solidFill>
          <a:ln w="10160">
            <a:solidFill>
              <a:srgbClr val="15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18288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1AC1C1"/>
                </a:solidFill>
                <a:latin typeface="Montserrat"/>
              </a:rPr>
              <a:t>РЕЗУЛЬТАТ</a:t>
            </a:r>
            <a:endParaRPr sz="1100" b="0" i="0"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309360" cy="1325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0" i="0">
                <a:solidFill>
                  <a:srgbClr val="FFFFFF"/>
                </a:solidFill>
                <a:latin typeface="Montserrat"/>
              </a:rPr>
              <a:t>Одна сделка соответствует
одному заказу</a:t>
            </a:r>
            <a:endParaRPr sz="3600" b="0" i="0">
              <a:latin typeface="Montserra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63093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D6E4EC"/>
                </a:solidFill>
                <a:latin typeface="Montserrat"/>
              </a:rPr>
              <a:t>Компания сохранила текущий штат, ускорила работу сотрудников
и устранила повторный ввод между системами.</a:t>
            </a:r>
            <a:endParaRPr sz="1700" b="0" i="0">
              <a:latin typeface="Montserrat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3977639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42231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до 1 млн руб.</a:t>
            </a:r>
            <a:endParaRPr sz="1700" b="0" i="0"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4562855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экономии в год</a:t>
            </a:r>
            <a:endParaRPr sz="900" b="0" i="0">
              <a:latin typeface="Montserrat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886200" y="3977639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4142231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3–5 мес</a:t>
            </a:r>
            <a:endParaRPr sz="1700" b="0" i="0"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069080" y="4562855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окупаемость проекта</a:t>
            </a:r>
            <a:endParaRPr sz="900" b="0" i="0">
              <a:latin typeface="Montserrat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85800" y="5257800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422392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без найма</a:t>
            </a:r>
            <a:endParaRPr sz="1700" b="0" i="0">
              <a:latin typeface="Montserra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68680" y="5843016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при росте нагрузки</a:t>
            </a:r>
            <a:endParaRPr sz="900" b="0" i="0">
              <a:latin typeface="Montserrat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886200" y="5257800"/>
            <a:ext cx="2834640" cy="1005840"/>
          </a:xfrm>
          <a:prstGeom prst="roundRect">
            <a:avLst/>
          </a:prstGeom>
          <a:solidFill>
            <a:srgbClr val="1E314A"/>
          </a:solidFill>
          <a:ln w="10160">
            <a:solidFill>
              <a:srgbClr val="3B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5422392"/>
            <a:ext cx="242316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AC1C1"/>
                </a:solidFill>
                <a:latin typeface="Montserrat"/>
              </a:rPr>
              <a:t>0 дублей</a:t>
            </a:r>
            <a:endParaRPr sz="1700" b="0" i="0">
              <a:latin typeface="Montserra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69080" y="5843016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C5D4DE"/>
                </a:solidFill>
                <a:latin typeface="Montserrat"/>
              </a:rPr>
              <a:t>при повторной отправке</a:t>
            </a:r>
            <a:endParaRPr sz="900" b="0" i="0">
              <a:latin typeface="Montserra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85800" y="6355080"/>
            <a:ext cx="41148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9DB0BF"/>
                </a:solidFill>
                <a:latin typeface="Montserrat"/>
              </a:rPr>
              <a:t>WEBOPTIMIZE  •  WEBOPTIMIZE.RU</a:t>
            </a:r>
            <a:endParaRPr sz="900" b="0" i="0">
              <a:latin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