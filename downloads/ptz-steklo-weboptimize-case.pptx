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РЕЗУЛЬТАТ СРАЗУ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02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result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31" y="1307592"/>
            <a:ext cx="10549288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ЗАДАЧА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Между сделкой и производством был разрыв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03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4251960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" y="5138928"/>
            <a:ext cx="3840480" cy="658368"/>
          </a:xfrm>
          <a:prstGeom prst="roundRect">
            <a:avLst/>
          </a:prstGeom>
          <a:solidFill>
            <a:srgbClr val="15243A"/>
          </a:solidFill>
          <a:ln w="10160">
            <a:solidFill>
              <a:srgbClr val="15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5340096"/>
            <a:ext cx="3474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ИНДИВИДУАЛЬНОЕ ПРОИЗВОДСТВО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1554480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0368" y="1554480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737360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01</a:t>
            </a:r>
            <a:endParaRPr sz="10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80760" y="1673352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Два рабочих пространства</a:t>
            </a:r>
            <a:endParaRPr sz="14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80760" y="2011680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Менеджер работает в Bitrix24, производство — в 1С.</a:t>
            </a:r>
            <a:endParaRPr sz="11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230368" y="2670048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0368" y="2670048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2852928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02</a:t>
            </a:r>
            <a:endParaRPr sz="10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80760" y="2788920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Ручная сверка</a:t>
            </a:r>
            <a:endParaRPr sz="14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80760" y="3127248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Статус, срок и сумма уточняются между сотрудниками.</a:t>
            </a:r>
            <a:endParaRPr sz="1100" b="0" i="0"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230368" y="3785615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30368" y="3785615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968496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03</a:t>
            </a:r>
            <a:endParaRPr sz="1000" b="0" i="0"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80760" y="3904487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Риск дубля</a:t>
            </a:r>
            <a:endParaRPr sz="14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080760" y="4242816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Повторная передача могла создать второй заказ.</a:t>
            </a:r>
            <a:endParaRPr sz="1100" b="0" i="0">
              <a:latin typeface="Montserra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230368" y="4901184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30368" y="4901184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9552" y="5084064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04</a:t>
            </a:r>
            <a:endParaRPr sz="1000" b="0" i="0"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80760" y="5020056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Закрытая 1С</a:t>
            </a:r>
            <a:endParaRPr sz="14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080760" y="5358384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Базу нельзя публиковать в интернет.</a:t>
            </a:r>
            <a:endParaRPr sz="11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КАК УСТРОЕНО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1С остаётся закрытой, обмен идёт через сервер компании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04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process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34750"/>
            <a:ext cx="11018520" cy="482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ИНТЕРФЕЙС ПРОЦЕССА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Менеджер видит заказ, не переходя в 1С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05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interfac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723" y="1298448"/>
            <a:ext cx="10741793" cy="5102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ОБРАТНЫЙ ОБМЕН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Изменения 1С возвращаются в исходную сделку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06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9808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D99400"/>
                </a:solidFill>
                <a:latin typeface="Montserrat"/>
              </a:rPr>
              <a:t>1С • ПРОИЗВОДСТВО</a:t>
            </a:r>
            <a:endParaRPr sz="13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7008" y="2459736"/>
            <a:ext cx="31546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Статус
Срок готовности
Сумма
Сведения о переделке</a:t>
            </a:r>
            <a:endParaRPr sz="14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65776" y="2258568"/>
            <a:ext cx="2057400" cy="105156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2532888"/>
            <a:ext cx="1618488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АВТОМАТИЧЕСКОЕ
ОБНОВЛЕНИЕ</a:t>
            </a:r>
            <a:endParaRPr sz="11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70064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769AA"/>
                </a:solidFill>
                <a:latin typeface="Montserrat"/>
              </a:rPr>
              <a:t>BITRIX24 • МЕНЕДЖЕР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27264" y="2596896"/>
            <a:ext cx="315468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5243A"/>
                </a:solidFill>
                <a:latin typeface="Montserrat"/>
              </a:rPr>
              <a:t>Актуальный результат
виден в исходной сделке</a:t>
            </a:r>
            <a:endParaRPr sz="1600" b="0" i="0">
              <a:latin typeface="Montserra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818888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23176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45152"/>
            <a:ext cx="3401568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3544" y="4828032"/>
            <a:ext cx="438912" cy="438912"/>
          </a:xfrm>
          <a:prstGeom prst="roundRect">
            <a:avLst/>
          </a:prstGeom>
          <a:solidFill>
            <a:srgbClr val="D99400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4928616"/>
            <a:ext cx="40233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01</a:t>
            </a:r>
            <a:endParaRPr sz="9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90472" y="4791456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1С хранит статус, срок, сумму и переделку</a:t>
            </a:r>
            <a:endParaRPr sz="1100" b="0" i="0">
              <a:latin typeface="Montserrat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07992" y="4645152"/>
            <a:ext cx="3401568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54296" y="4828032"/>
            <a:ext cx="438912" cy="438912"/>
          </a:xfrm>
          <a:prstGeom prst="round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2583" y="4928616"/>
            <a:ext cx="40233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02</a:t>
            </a:r>
            <a:endParaRPr sz="9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21224" y="4791456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Модуль проверяет только связанные заказы</a:t>
            </a:r>
            <a:endParaRPr sz="1100" b="0" i="0">
              <a:latin typeface="Montserra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238744" y="4645152"/>
            <a:ext cx="3401568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85048" y="4828032"/>
            <a:ext cx="438912" cy="438912"/>
          </a:xfrm>
          <a:prstGeom prst="round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3336" y="4928616"/>
            <a:ext cx="40233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03</a:t>
            </a:r>
            <a:endParaRPr sz="900" b="0" i="0"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951976" y="4791456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Повтор обновляет заказ без дубля</a:t>
            </a:r>
            <a:endParaRPr sz="11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НАДЁЖНОСТЬ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Временный сбой не создаёт дубль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07</a:t>
            </a:r>
            <a:endParaRPr sz="1200" b="0" i="0"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34440" y="2240280"/>
            <a:ext cx="9646920" cy="54864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36192" y="1901952"/>
            <a:ext cx="676656" cy="676656"/>
          </a:xfrm>
          <a:prstGeom prst="round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01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Команда не теряется</a:t>
            </a:r>
            <a:endParaRPr sz="13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остаётся в очереди</a:t>
            </a:r>
            <a:endParaRPr sz="10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79392" y="1901952"/>
            <a:ext cx="676656" cy="676656"/>
          </a:xfrm>
          <a:prstGeom prst="round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02</a:t>
            </a:r>
            <a:endParaRPr sz="11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832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Система пробует снова</a:t>
            </a:r>
            <a:endParaRPr sz="13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39312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автоматически</a:t>
            </a:r>
            <a:endParaRPr sz="1000" b="0" i="0"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022592" y="1901952"/>
            <a:ext cx="676656" cy="676656"/>
          </a:xfrm>
          <a:prstGeom prst="round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03</a:t>
            </a:r>
            <a:endParaRPr sz="1100" b="0" i="0"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1264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Связь проверяется</a:t>
            </a:r>
            <a:endParaRPr sz="13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82512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перед записью</a:t>
            </a:r>
            <a:endParaRPr sz="10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765792" y="1901952"/>
            <a:ext cx="676656" cy="676656"/>
          </a:xfrm>
          <a:prstGeom prst="round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04</a:t>
            </a:r>
            <a:endParaRPr sz="1100" b="0" i="0">
              <a:latin typeface="Montserra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8696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Заказ обновляется</a:t>
            </a:r>
            <a:endParaRPr sz="1300" b="0" i="0">
              <a:latin typeface="Montserra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25711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вместо создания нового</a:t>
            </a:r>
            <a:endParaRPr sz="1000" b="0" i="0">
              <a:latin typeface="Montserrat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143000" y="4828032"/>
            <a:ext cx="9921240" cy="71323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5047488"/>
            <a:ext cx="9372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08C8C"/>
                </a:solidFill>
                <a:latin typeface="Montserrat"/>
              </a:rPr>
              <a:t>Временный сбой не останавливает процесс и не создаёт второй заказ</a:t>
            </a:r>
            <a:endParaRPr sz="12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В РАБОЧЕМ ПРОЦЕССЕ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Интеграция поддерживает индивидуальное производство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08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photo-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33036"/>
            <a:ext cx="7909560" cy="44491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96528" y="1572768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97696" y="1755648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25128" y="1856231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01</a:t>
            </a:r>
            <a:endParaRPr sz="800" b="0" i="0"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528048" y="1719072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Заказ создаётся из сделки</a:t>
            </a:r>
            <a:endParaRPr sz="11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796528" y="2560320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97696" y="2743200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5128" y="2843784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02</a:t>
            </a:r>
            <a:endParaRPr sz="8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528048" y="2706624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Повтор обновляет заказ без дубля</a:t>
            </a:r>
            <a:endParaRPr sz="11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796528" y="3547872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97696" y="3730752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3831335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03</a:t>
            </a:r>
            <a:endParaRPr sz="8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528048" y="3694176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Статус возвращается в Bitrix24</a:t>
            </a:r>
            <a:endParaRPr sz="1100" b="0" i="0"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796528" y="4535424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97696" y="4718304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4818888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04</a:t>
            </a:r>
            <a:endParaRPr sz="800" b="0" i="0"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528048" y="4681728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Производство продолжает работать в 1С</a:t>
            </a:r>
            <a:endParaRPr sz="11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680" y="5989320"/>
            <a:ext cx="7452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008C8C"/>
                </a:solidFill>
                <a:latin typeface="Montserrat"/>
              </a:rPr>
              <a:t>РЕАЛЬНЫЕ РАБОТЫ СТЕКЛОЦЕНТР.ПТЗ</a:t>
            </a:r>
            <a:endParaRPr sz="9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БИЗНЕС-РЕЗУЛЬТАТ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09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business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31" y="1307592"/>
            <a:ext cx="10549288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4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7" y="0"/>
            <a:ext cx="384962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119872" y="0"/>
            <a:ext cx="310896" cy="6858000"/>
          </a:xfrm>
          <a:prstGeom prst="rect">
            <a:avLst/>
          </a:prstGeom>
          <a:solidFill>
            <a:srgbClr val="15243A"/>
          </a:solidFill>
          <a:ln w="10160">
            <a:solidFill>
              <a:srgbClr val="15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AC1C1"/>
                </a:solidFill>
                <a:latin typeface="Montserrat"/>
              </a:rPr>
              <a:t>РЕЗУЛЬТАТ</a:t>
            </a:r>
            <a:endParaRPr sz="1100" b="0" i="0">
              <a:latin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70408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FFFFF"/>
                </a:solidFill>
                <a:latin typeface="Montserrat"/>
              </a:rPr>
              <a:t>Одна сделка — один заказ</a:t>
            </a:r>
            <a:endParaRPr sz="3200" b="0" i="0"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71323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D6E4EC"/>
                </a:solidFill>
                <a:latin typeface="Montserrat"/>
              </a:rPr>
              <a:t>Сокращение ручной операции высвободило время и создало запас мощности.</a:t>
            </a:r>
            <a:endParaRPr sz="13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496312"/>
            <a:ext cx="65836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78A8E"/>
                </a:solidFill>
                <a:latin typeface="Montserrat"/>
              </a:rPr>
              <a:t>ДО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463040" y="2450592"/>
            <a:ext cx="4709160" cy="420624"/>
          </a:xfrm>
          <a:prstGeom prst="round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2560320"/>
            <a:ext cx="9144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15–25 мин</a:t>
            </a:r>
            <a:endParaRPr sz="10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090672"/>
            <a:ext cx="7132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AC1C1"/>
                </a:solidFill>
                <a:latin typeface="Montserrat"/>
              </a:rPr>
              <a:t>ПОСЛЕ</a:t>
            </a:r>
            <a:endParaRPr sz="11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463040" y="3044952"/>
            <a:ext cx="749808" cy="420624"/>
          </a:xfrm>
          <a:prstGeom prst="round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0008" y="3154680"/>
            <a:ext cx="7772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AC1C1"/>
                </a:solidFill>
                <a:latin typeface="Montserrat"/>
              </a:rPr>
              <a:t>2–3 мин</a:t>
            </a:r>
            <a:endParaRPr sz="10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715000" y="2953512"/>
            <a:ext cx="2057400" cy="603504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25312" y="3136392"/>
            <a:ext cx="1645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AC1C1"/>
                </a:solidFill>
                <a:latin typeface="Montserrat"/>
              </a:rPr>
              <a:t>−80–90% времени</a:t>
            </a:r>
            <a:endParaRPr sz="1200" b="0" i="0">
              <a:latin typeface="Montserrat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85800" y="3977639"/>
            <a:ext cx="2148840" cy="1115568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" y="4151376"/>
            <a:ext cx="184708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AC1C1"/>
                </a:solidFill>
                <a:latin typeface="Montserrat"/>
              </a:rPr>
              <a:t>94–156</a:t>
            </a:r>
            <a:endParaRPr sz="18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" y="4517136"/>
            <a:ext cx="18470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часов в месяц</a:t>
            </a:r>
            <a:endParaRPr sz="9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" y="4818888"/>
            <a:ext cx="184708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B8C8D4"/>
                </a:solidFill>
                <a:latin typeface="Montserrat"/>
              </a:rPr>
              <a:t>высвобождено</a:t>
            </a:r>
            <a:endParaRPr sz="8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07792" y="4279392"/>
            <a:ext cx="29260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AC1C1"/>
                </a:solidFill>
                <a:latin typeface="Montserrat"/>
              </a:rPr>
              <a:t>&gt;</a:t>
            </a:r>
            <a:endParaRPr sz="2200" b="0" i="0">
              <a:latin typeface="Montserra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264408" y="3977639"/>
            <a:ext cx="2148840" cy="1115568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4151376"/>
            <a:ext cx="184708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7805E"/>
                </a:solidFill>
                <a:latin typeface="Montserrat"/>
              </a:rPr>
              <a:t>0,6–1</a:t>
            </a:r>
            <a:endParaRPr sz="18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10712" y="4517136"/>
            <a:ext cx="18470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рабочей ставки</a:t>
            </a:r>
            <a:endParaRPr sz="9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10712" y="4818888"/>
            <a:ext cx="184708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B8C8D4"/>
                </a:solidFill>
                <a:latin typeface="Montserrat"/>
              </a:rPr>
              <a:t>запас мощности</a:t>
            </a:r>
            <a:endParaRPr sz="8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0" y="4279392"/>
            <a:ext cx="29260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1AC1C1"/>
                </a:solidFill>
                <a:latin typeface="Montserrat"/>
              </a:rPr>
              <a:t>&gt;</a:t>
            </a:r>
            <a:endParaRPr sz="2200" b="0" i="0"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843016" y="3977639"/>
            <a:ext cx="2148840" cy="1115568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4151376"/>
            <a:ext cx="184708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D99400"/>
                </a:solidFill>
                <a:latin typeface="Montserrat"/>
              </a:rPr>
              <a:t>0,5–1 млн</a:t>
            </a:r>
            <a:endParaRPr sz="18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989320" y="4517136"/>
            <a:ext cx="1847088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рублей в год</a:t>
            </a:r>
            <a:endParaRPr sz="9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989320" y="4818888"/>
            <a:ext cx="1847088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B8C8D4"/>
                </a:solidFill>
                <a:latin typeface="Montserrat"/>
              </a:rPr>
              <a:t>полученная экономия</a:t>
            </a:r>
            <a:endParaRPr sz="800" b="0" i="0">
              <a:latin typeface="Montserra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85800" y="5504688"/>
            <a:ext cx="7306056" cy="548640"/>
          </a:xfrm>
          <a:prstGeom prst="roundRect">
            <a:avLst/>
          </a:prstGeom>
          <a:solidFill>
            <a:srgbClr val="183A48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5687568"/>
            <a:ext cx="688543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1AC1C1"/>
                </a:solidFill>
                <a:latin typeface="Montserrat"/>
              </a:rPr>
              <a:t>ТЕКУЩИЙ ШТАТ СОХРАНЁН  •  ОКУПАЕМОСТЬ 3–5 МЕСЯЦЕВ  •  ПОВТОР БЕЗ ДУБЛЯ</a:t>
            </a:r>
            <a:endParaRPr sz="1000" b="0" i="0">
              <a:latin typeface="Montserrat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339327" y="6089904"/>
            <a:ext cx="3849624" cy="768096"/>
          </a:xfrm>
          <a:prstGeom prst="rect">
            <a:avLst/>
          </a:prstGeom>
          <a:solidFill>
            <a:srgbClr val="15243A"/>
          </a:solidFill>
          <a:ln w="10160">
            <a:solidFill>
              <a:srgbClr val="15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7072" y="6291072"/>
            <a:ext cx="3374136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РЕАЛЬНЫЕ РАБОТЫ
СТЕКЛОЦЕНТР.ПТЗ</a:t>
            </a:r>
            <a:endParaRPr sz="1000" b="0" i="0">
              <a:latin typeface="Montserrat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85800" y="6355080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DB0BF"/>
                </a:solidFill>
                <a:latin typeface="Montserrat"/>
              </a:rPr>
              <a:t>WEBOPTIMIZE  •  WEBOPTIMIZE.RU</a:t>
            </a:r>
            <a:endParaRPr sz="900" b="0" i="0"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