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КОНТЕКСТ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5243A"/>
                </a:solidFill>
                <a:latin typeface="Montserrat"/>
              </a:rPr>
              <a:t>Индивидуальный заказ проходит длинный путь</a:t>
            </a:r>
            <a:endParaRPr sz="2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02</a:t>
            </a:r>
            <a:endParaRPr sz="1200" b="0" i="0">
              <a:latin typeface="Montserra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011680" cy="1325880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1691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08C8C"/>
                </a:solidFill>
                <a:latin typeface="Montserrat"/>
              </a:rPr>
              <a:t>1998</a:t>
            </a:r>
            <a:endParaRPr sz="2700" b="0" i="0"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2350008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год начала работы</a:t>
            </a:r>
            <a:endParaRPr sz="1100" b="0" i="0">
              <a:latin typeface="Montserra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71800" y="1600200"/>
            <a:ext cx="2011680" cy="1325880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801368"/>
            <a:ext cx="1691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08C8C"/>
                </a:solidFill>
                <a:latin typeface="Montserrat"/>
              </a:rPr>
              <a:t>10 000+</a:t>
            </a:r>
            <a:endParaRPr sz="2700" b="0" i="0"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6392" y="2350008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частных клиентов</a:t>
            </a:r>
            <a:endParaRPr sz="1100" b="0" i="0">
              <a:latin typeface="Montserra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2011680" cy="1325880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447288"/>
            <a:ext cx="1691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08C8C"/>
                </a:solidFill>
                <a:latin typeface="Montserrat"/>
              </a:rPr>
              <a:t>1 000+</a:t>
            </a:r>
            <a:endParaRPr sz="2700" b="0" i="0"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3995928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организаций</a:t>
            </a:r>
            <a:endParaRPr sz="1100" b="0" i="0">
              <a:latin typeface="Montserra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71800" y="3246120"/>
            <a:ext cx="2011680" cy="1325880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3447288"/>
            <a:ext cx="1691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008C8C"/>
                </a:solidFill>
                <a:latin typeface="Montserrat"/>
              </a:rPr>
              <a:t>500+</a:t>
            </a:r>
            <a:endParaRPr sz="2700" b="0" i="0"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36392" y="3995928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постоянных клиентов</a:t>
            </a:r>
            <a:endParaRPr sz="1100" b="0" i="0">
              <a:latin typeface="Montserrat"/>
            </a:endParaRPr>
          </a:p>
        </p:txBody>
      </p:sp>
      <p:pic>
        <p:nvPicPr>
          <p:cNvPr id="17" name="Picture 16" descr="ptz-proj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81912"/>
            <a:ext cx="2926080" cy="2926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23960" y="1719072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ЗАМЕР</a:t>
            </a:r>
            <a:endParaRPr sz="1100" b="0" i="0"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23960" y="224028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→ РАСЧЁТ</a:t>
            </a:r>
            <a:endParaRPr sz="1300" b="0" i="0"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23960" y="276148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→ ПРОИЗВОДСТВО</a:t>
            </a:r>
            <a:endParaRPr sz="1300" b="0" i="0">
              <a:latin typeface="Montserra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23960" y="3282696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→ ДОСТАВКА</a:t>
            </a:r>
            <a:endParaRPr sz="1300" b="0" i="0">
              <a:latin typeface="Montserra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23960" y="380390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→ МОНТАЖ</a:t>
            </a:r>
            <a:endParaRPr sz="1300" b="0" i="0">
              <a:latin typeface="Montserra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6583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Источник показателей: официальный сайт СтеклоЦентр.ПТЗ</a:t>
            </a:r>
            <a:endParaRPr sz="900" b="0" i="0">
              <a:latin typeface="Montserra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ЗАДАЧА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5243A"/>
                </a:solidFill>
                <a:latin typeface="Montserrat"/>
              </a:rPr>
              <a:t>Между сделкой и производством был разрыв</a:t>
            </a:r>
            <a:endParaRPr sz="2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03</a:t>
            </a:r>
            <a:endParaRPr sz="1200" b="0" i="0">
              <a:latin typeface="Montserra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6479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01</a:t>
            </a:r>
            <a:endParaRPr sz="1000" b="0" i="0"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1305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5243A"/>
                </a:solidFill>
                <a:latin typeface="Montserrat"/>
              </a:rPr>
              <a:t>Два рабочих пространства</a:t>
            </a:r>
            <a:endParaRPr sz="1500" b="0" i="0"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532888"/>
            <a:ext cx="30175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Менеджер — в Bitrix24, производство — в 1С.</a:t>
            </a:r>
            <a:endParaRPr sz="1100" b="0" i="0">
              <a:latin typeface="Montserra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6479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02</a:t>
            </a:r>
            <a:endParaRPr sz="1000" b="0" i="0"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0288" y="21305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5243A"/>
                </a:solidFill>
                <a:latin typeface="Montserrat"/>
              </a:rPr>
              <a:t>Ручная сверка</a:t>
            </a:r>
            <a:endParaRPr sz="1500" b="0" i="0"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0288" y="2532888"/>
            <a:ext cx="30175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Номер, статус, сроки и сумма уточняются отдельно.</a:t>
            </a:r>
            <a:endParaRPr sz="1100" b="0" i="0">
              <a:latin typeface="Montserra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74736" y="1600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76479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03</a:t>
            </a:r>
            <a:endParaRPr sz="1000" b="0" i="0"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7615" y="213055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5243A"/>
                </a:solidFill>
                <a:latin typeface="Montserrat"/>
              </a:rPr>
              <a:t>Риск дубля</a:t>
            </a:r>
            <a:endParaRPr sz="1500" b="0" i="0"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7615" y="2532888"/>
            <a:ext cx="30175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Повторная передача может создать второй заказ.</a:t>
            </a:r>
            <a:endParaRPr sz="1100" b="0" i="0">
              <a:latin typeface="Montserra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7307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04</a:t>
            </a:r>
            <a:endParaRPr sz="1000" b="0" i="0"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4096511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5243A"/>
                </a:solidFill>
                <a:latin typeface="Montserrat"/>
              </a:rPr>
              <a:t>Закрытая 1С</a:t>
            </a:r>
            <a:endParaRPr sz="1500" b="0" i="0"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4498848"/>
            <a:ext cx="30175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Старую базу нельзя публиковать в интернет.</a:t>
            </a:r>
            <a:endParaRPr sz="1100" b="0" i="0">
              <a:latin typeface="Montserra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07408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7307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05</a:t>
            </a:r>
            <a:endParaRPr sz="1000" b="0" i="0">
              <a:latin typeface="Montserra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90288" y="4096511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5243A"/>
                </a:solidFill>
                <a:latin typeface="Montserrat"/>
              </a:rPr>
              <a:t>Собственная форма заказа</a:t>
            </a:r>
            <a:endParaRPr sz="1500" b="0" i="0">
              <a:latin typeface="Montserra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90288" y="4498848"/>
            <a:ext cx="30175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Производство работает в привычном заказе 1С.</a:t>
            </a:r>
            <a:endParaRPr sz="1100" b="0" i="0">
              <a:latin typeface="Montserra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74736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7307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06</a:t>
            </a:r>
            <a:endParaRPr sz="1000" b="0" i="0">
              <a:latin typeface="Montserra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57615" y="4096511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5243A"/>
                </a:solidFill>
                <a:latin typeface="Montserrat"/>
              </a:rPr>
              <a:t>Нет штатного коннектора</a:t>
            </a:r>
            <a:endParaRPr sz="1500" b="0" i="0"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57615" y="4498848"/>
            <a:ext cx="30175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Устаревшая конфигурация требует отдельного адаптера.</a:t>
            </a:r>
            <a:endParaRPr sz="1100" b="0" i="0">
              <a:latin typeface="Montserra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КАК УСТРОЕНО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5243A"/>
                </a:solidFill>
                <a:latin typeface="Montserrat"/>
              </a:rPr>
              <a:t>1С остаётся закрытой, обмен идёт через сервер компании</a:t>
            </a:r>
            <a:endParaRPr sz="24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04</a:t>
            </a:r>
            <a:endParaRPr sz="1200" b="0" i="0"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0972800" cy="3611880"/>
          </a:xfrm>
          <a:prstGeom prst="rect">
            <a:avLst/>
          </a:prstGeom>
          <a:solidFill>
            <a:srgbClr val="F3F6F8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10881360" cy="32848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76672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8C8C"/>
                </a:solidFill>
                <a:latin typeface="Montserrat"/>
              </a:rPr>
              <a:t>Защищённая связь</a:t>
            </a:r>
            <a:endParaRPr sz="1300" b="0" i="0"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733288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085"/>
                </a:solidFill>
                <a:latin typeface="Montserrat"/>
              </a:rPr>
              <a:t>обмен идёт через сервер компании</a:t>
            </a:r>
            <a:endParaRPr sz="1000" b="0" i="0"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5376672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8C8C"/>
                </a:solidFill>
                <a:latin typeface="Montserrat"/>
              </a:rPr>
              <a:t>Доступы защищены</a:t>
            </a:r>
            <a:endParaRPr sz="1300" b="0" i="0"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3400" y="5733288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085"/>
                </a:solidFill>
                <a:latin typeface="Montserrat"/>
              </a:rPr>
              <a:t>хранятся только на сервере</a:t>
            </a:r>
            <a:endParaRPr sz="1000" b="0" i="0"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19" y="5376672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08C8C"/>
                </a:solidFill>
                <a:latin typeface="Montserrat"/>
              </a:rPr>
              <a:t>Закрытая 1С</a:t>
            </a:r>
            <a:endParaRPr sz="1300" b="0" i="0"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19" y="5733288"/>
            <a:ext cx="3246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085"/>
                </a:solidFill>
                <a:latin typeface="Montserrat"/>
              </a:rPr>
              <a:t>база недоступна из интернета</a:t>
            </a:r>
            <a:endParaRPr sz="1000" b="0" i="0"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ПУТЬ ПОЛЬЗОВАТЕЛЯ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300" b="0" i="0">
                <a:solidFill>
                  <a:srgbClr val="15243A"/>
                </a:solidFill>
                <a:latin typeface="Montserrat"/>
              </a:rPr>
              <a:t>Пять шагов — от заполненной сделки до актуального статуса</a:t>
            </a:r>
            <a:endParaRPr sz="23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05</a:t>
            </a:r>
            <a:endParaRPr sz="1200" b="0" i="0">
              <a:latin typeface="Montserrat"/>
            </a:endParaRPr>
          </a:p>
        </p:txBody>
      </p:sp>
      <p:pic>
        <p:nvPicPr>
          <p:cNvPr id="5" name="Picture 4" descr="01-use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11064240" cy="38863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96712"/>
            <a:ext cx="10881360" cy="530352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843016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Менеджер работает в Bitrix24 • производство — в 1С • связь и обновления выполняются автоматически</a:t>
            </a:r>
            <a:endParaRPr sz="1100" b="0" i="0"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ОБРАТНЫЙ ОБМЕН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5243A"/>
                </a:solidFill>
                <a:latin typeface="Montserrat"/>
              </a:rPr>
              <a:t>Изменения 1С возвращаются в исходную сделку</a:t>
            </a:r>
            <a:endParaRPr sz="2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06</a:t>
            </a:r>
            <a:endParaRPr sz="1200" b="0" i="0">
              <a:latin typeface="Montserrat"/>
            </a:endParaRPr>
          </a:p>
        </p:txBody>
      </p:sp>
      <p:pic>
        <p:nvPicPr>
          <p:cNvPr id="5" name="Picture 4" descr="03-reverse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27632"/>
            <a:ext cx="10927080" cy="320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230368"/>
            <a:ext cx="10698480" cy="868680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20">
                <a:solidFill>
                  <a:srgbClr val="17212B"/>
                </a:solidFill>
                <a:latin typeface="Montserrat"/>
              </a:defRPr>
            </a:pPr>
            <a:r>
              <a:rPr sz="1100" b="0" i="0">
                <a:latin typeface="Montserrat"/>
              </a:rPr>
              <a:t>•  1С владеет производственным статусом, сроками, суммой и переделкой</a:t>
            </a:r>
            <a:endParaRPr sz="1100" b="0" i="0">
              <a:latin typeface="Montserrat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120">
                <a:solidFill>
                  <a:srgbClr val="17212B"/>
                </a:solidFill>
                <a:latin typeface="Montserrat"/>
              </a:defRPr>
            </a:pPr>
            <a:r>
              <a:rPr sz="1100" b="0" i="0">
                <a:latin typeface="Montserrat"/>
              </a:rPr>
              <a:t>•  модуль обмена проверяет только уже связанные заказы</a:t>
            </a:r>
            <a:endParaRPr sz="1100" b="0" i="0">
              <a:latin typeface="Montserrat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120">
                <a:solidFill>
                  <a:srgbClr val="17212B"/>
                </a:solidFill>
                <a:latin typeface="Montserrat"/>
              </a:defRPr>
            </a:pPr>
            <a:r>
              <a:rPr sz="1100" b="0" i="0">
                <a:latin typeface="Montserrat"/>
              </a:rPr>
              <a:t>•  вторая сделка и второй заказ не создаются</a:t>
            </a:r>
            <a:endParaRPr sz="1100" b="0" i="0"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НАДЁЖНОСТЬ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5243A"/>
                </a:solidFill>
                <a:latin typeface="Montserrat"/>
              </a:rPr>
              <a:t>Временная ошибка не превращается в дубль</a:t>
            </a:r>
            <a:endParaRPr sz="2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07</a:t>
            </a:r>
            <a:endParaRPr sz="1200" b="0" i="0">
              <a:latin typeface="Montserrat"/>
            </a:endParaRPr>
          </a:p>
        </p:txBody>
      </p:sp>
      <p:pic>
        <p:nvPicPr>
          <p:cNvPr id="5" name="Picture 4" descr="04-retry-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18488"/>
            <a:ext cx="10881360" cy="22238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370832"/>
            <a:ext cx="2468880" cy="960120"/>
          </a:xfrm>
          <a:prstGeom prst="roundRect">
            <a:avLst/>
          </a:prstGeom>
          <a:solidFill>
            <a:srgbClr val="E8F2FB"/>
          </a:solidFill>
          <a:ln w="1016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526280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69AA"/>
                </a:solidFill>
                <a:latin typeface="Montserrat"/>
              </a:rPr>
              <a:t>01</a:t>
            </a:r>
            <a:endParaRPr sz="900" b="0" i="0"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70431" y="4498848"/>
            <a:ext cx="17556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5243A"/>
                </a:solidFill>
                <a:latin typeface="Montserrat"/>
              </a:rPr>
              <a:t>Команда остаётся в очереди</a:t>
            </a:r>
            <a:endParaRPr sz="1100" b="0" i="0">
              <a:latin typeface="Montserra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83280" y="4370832"/>
            <a:ext cx="2468880" cy="960120"/>
          </a:xfrm>
          <a:prstGeom prst="roundRect">
            <a:avLst/>
          </a:prstGeom>
          <a:solidFill>
            <a:srgbClr val="E8F2FB"/>
          </a:solidFill>
          <a:ln w="1016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4526280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69AA"/>
                </a:solidFill>
                <a:latin typeface="Montserrat"/>
              </a:rPr>
              <a:t>02</a:t>
            </a:r>
            <a:endParaRPr sz="900" b="0" i="0"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13632" y="4498848"/>
            <a:ext cx="17556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5243A"/>
                </a:solidFill>
                <a:latin typeface="Montserrat"/>
              </a:rPr>
              <a:t>Повтор ограничен по числу попыток</a:t>
            </a:r>
            <a:endParaRPr sz="1100" b="0" i="0">
              <a:latin typeface="Montserra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4370832"/>
            <a:ext cx="2468880" cy="960120"/>
          </a:xfrm>
          <a:prstGeom prst="roundRect">
            <a:avLst/>
          </a:prstGeom>
          <a:solidFill>
            <a:srgbClr val="E8F2FB"/>
          </a:solidFill>
          <a:ln w="1016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4526280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69AA"/>
                </a:solidFill>
                <a:latin typeface="Montserrat"/>
              </a:rPr>
              <a:t>03</a:t>
            </a:r>
            <a:endParaRPr sz="900" b="0" i="0"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56832" y="4498848"/>
            <a:ext cx="17556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5243A"/>
                </a:solidFill>
                <a:latin typeface="Montserrat"/>
              </a:rPr>
              <a:t>Связь проверяется перед записью</a:t>
            </a:r>
            <a:endParaRPr sz="1100" b="0" i="0">
              <a:latin typeface="Montserra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869680" y="4370832"/>
            <a:ext cx="2468880" cy="960120"/>
          </a:xfrm>
          <a:prstGeom prst="roundRect">
            <a:avLst/>
          </a:prstGeom>
          <a:solidFill>
            <a:srgbClr val="E8F2FB"/>
          </a:solidFill>
          <a:ln w="10160">
            <a:solidFill>
              <a:srgbClr val="C9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4526280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69AA"/>
                </a:solidFill>
                <a:latin typeface="Montserrat"/>
              </a:rPr>
              <a:t>04</a:t>
            </a:r>
            <a:endParaRPr sz="900" b="0" i="0"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00032" y="4498848"/>
            <a:ext cx="175564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5243A"/>
                </a:solidFill>
                <a:latin typeface="Montserrat"/>
              </a:rPr>
              <a:t>Обновляется существующий заказ</a:t>
            </a:r>
            <a:endParaRPr sz="1100" b="0" i="0">
              <a:latin typeface="Montserra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797296"/>
            <a:ext cx="9601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67085"/>
                </a:solidFill>
                <a:latin typeface="Montserrat"/>
              </a:rPr>
              <a:t>Журнал обмена не содержит адрес подключения, пароль 1С или персональные данные.</a:t>
            </a:r>
            <a:endParaRPr sz="1000" b="0" i="0"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ПРОВЕРКА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5243A"/>
                </a:solidFill>
                <a:latin typeface="Montserrat"/>
              </a:rPr>
              <a:t>Что проверено на тестовой копии</a:t>
            </a:r>
            <a:endParaRPr sz="2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08</a:t>
            </a:r>
            <a:endParaRPr sz="1200" b="0" i="0">
              <a:latin typeface="Montserra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805E"/>
                </a:solidFill>
                <a:latin typeface="Montserrat"/>
              </a:rPr>
              <a:t>ПРОВЕРЕНО</a:t>
            </a:r>
            <a:endParaRPr sz="900" b="0" i="0"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Заказ создан из сделки</a:t>
            </a:r>
            <a:endParaRPr sz="1300" b="0" i="0"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2688336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Проверка пройдена</a:t>
            </a:r>
            <a:endParaRPr sz="900" b="0" i="0">
              <a:latin typeface="Montserra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7393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805E"/>
                </a:solidFill>
                <a:latin typeface="Montserrat"/>
              </a:rPr>
              <a:t>ПРОВЕРЕНО</a:t>
            </a:r>
            <a:endParaRPr sz="900" b="0" i="0"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08576" y="2130552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Обновлён тот же заказ</a:t>
            </a:r>
            <a:endParaRPr sz="1300" b="0" i="0"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8576" y="2688336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Дубль не создан</a:t>
            </a:r>
            <a:endParaRPr sz="900" b="0" i="0">
              <a:latin typeface="Montserra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74736" y="160020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77393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805E"/>
                </a:solidFill>
                <a:latin typeface="Montserrat"/>
              </a:rPr>
              <a:t>ПРОВЕРЕНО</a:t>
            </a:r>
            <a:endParaRPr sz="900" b="0" i="0"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75904" y="2130552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Статус вернулся в Bitrix24</a:t>
            </a:r>
            <a:endParaRPr sz="1300" b="0" i="0"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75904" y="2688336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Проверка пройдена</a:t>
            </a:r>
            <a:endParaRPr sz="900" b="0" i="0">
              <a:latin typeface="Montserra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9417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805E"/>
                </a:solidFill>
                <a:latin typeface="Montserrat"/>
              </a:rPr>
              <a:t>ПРОВЕРЕНО</a:t>
            </a:r>
            <a:endParaRPr sz="900" b="0" i="0"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7" y="4050791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Повтор после ошибки</a:t>
            </a:r>
            <a:endParaRPr sz="1300" b="0" i="0"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7" y="4608576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Дубль не создан</a:t>
            </a:r>
            <a:endParaRPr sz="900" b="0" i="0">
              <a:latin typeface="Montserra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07408" y="352044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369417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805E"/>
                </a:solidFill>
                <a:latin typeface="Montserrat"/>
              </a:rPr>
              <a:t>ПРОВЕРЕНО</a:t>
            </a:r>
            <a:endParaRPr sz="900" b="0" i="0">
              <a:latin typeface="Montserra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08576" y="4050791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Связь с системами работает</a:t>
            </a:r>
            <a:endParaRPr sz="1300" b="0" i="0">
              <a:latin typeface="Montserra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08576" y="4608576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Работает штатно</a:t>
            </a:r>
            <a:endParaRPr sz="900" b="0" i="0">
              <a:latin typeface="Montserra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74736" y="3520440"/>
            <a:ext cx="34290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694176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805E"/>
                </a:solidFill>
                <a:latin typeface="Montserrat"/>
              </a:rPr>
              <a:t>ПРОВЕРЕНО</a:t>
            </a:r>
            <a:endParaRPr sz="900" b="0" i="0">
              <a:latin typeface="Montserra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75904" y="4050791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5243A"/>
                </a:solidFill>
                <a:latin typeface="Montserrat"/>
              </a:rPr>
              <a:t>Плановый обмен выполнен</a:t>
            </a:r>
            <a:endParaRPr sz="1300" b="0" i="0"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75904" y="4608576"/>
            <a:ext cx="28803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Без ошибок</a:t>
            </a:r>
            <a:endParaRPr sz="900" b="0" i="0">
              <a:latin typeface="Montserra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" y="5559552"/>
            <a:ext cx="10881360" cy="603504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33288"/>
            <a:ext cx="10378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008C8C"/>
                </a:solidFill>
                <a:latin typeface="Montserrat"/>
              </a:rPr>
              <a:t>Обмен между системами проверен. Перед рабочим запуском решение отдельно проверяется на платформе клиента.</a:t>
            </a:r>
            <a:endParaRPr sz="1000" b="0" i="0">
              <a:latin typeface="Montserra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БИЗНЕС-РЕЗУЛЬТАТ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9966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5243A"/>
                </a:solidFill>
                <a:latin typeface="Montserrat"/>
              </a:rPr>
              <a:t>Полученная экономия и рост производительности</a:t>
            </a:r>
            <a:endParaRPr sz="2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7085"/>
                </a:solidFill>
                <a:latin typeface="Montserrat"/>
              </a:rPr>
              <a:t>09</a:t>
            </a:r>
            <a:endParaRPr sz="1200" b="0" i="0">
              <a:latin typeface="Montserra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76672" cy="141732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83080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008C8C"/>
                </a:solidFill>
                <a:latin typeface="Montserrat"/>
              </a:rPr>
              <a:t>−80–90%</a:t>
            </a:r>
            <a:endParaRPr sz="2400" b="0" i="0"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" y="236829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15–25 минут до • 2–3 минуты после</a:t>
            </a:r>
            <a:endParaRPr sz="1100" b="0" i="0">
              <a:latin typeface="Montserra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376672" cy="141732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783080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769AA"/>
                </a:solidFill>
                <a:latin typeface="Montserrat"/>
              </a:rPr>
              <a:t>94–156 ч/мес</a:t>
            </a:r>
            <a:endParaRPr sz="2400" b="0" i="0"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9944" y="236829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высвобождено рабочего времени</a:t>
            </a:r>
            <a:endParaRPr sz="1100" b="0" i="0">
              <a:latin typeface="Montserra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310128"/>
            <a:ext cx="5376672" cy="141732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520440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7805E"/>
                </a:solidFill>
                <a:latin typeface="Montserrat"/>
              </a:rPr>
              <a:t>0,6–1 ставки</a:t>
            </a:r>
            <a:endParaRPr sz="2400" b="0" i="0"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7824" y="410565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полученный запас производительности</a:t>
            </a:r>
            <a:endParaRPr sz="1100" b="0" i="0">
              <a:latin typeface="Montserra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3310128"/>
            <a:ext cx="5376672" cy="1417320"/>
          </a:xfrm>
          <a:prstGeom prst="roundRect">
            <a:avLst/>
          </a:prstGeom>
          <a:solidFill>
            <a:srgbClr val="F3F6F8"/>
          </a:solidFill>
          <a:ln w="1016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3520440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D99400"/>
                </a:solidFill>
                <a:latin typeface="Montserrat"/>
              </a:rPr>
              <a:t>0,5–1 млн руб.</a:t>
            </a:r>
            <a:endParaRPr sz="2400" b="0" i="0"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9944" y="410565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7085"/>
                </a:solidFill>
                <a:latin typeface="Montserrat"/>
              </a:rPr>
              <a:t>полученная экономия в год</a:t>
            </a:r>
            <a:endParaRPr sz="1100" b="0" i="0">
              <a:latin typeface="Montserra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5056632"/>
            <a:ext cx="10908792" cy="694944"/>
          </a:xfrm>
          <a:prstGeom prst="roundRect">
            <a:avLst/>
          </a:prstGeom>
          <a:solidFill>
            <a:srgbClr val="E7F6F5"/>
          </a:solidFill>
          <a:ln w="10160">
            <a:solidFill>
              <a:srgbClr val="C4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104241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008C8C"/>
                </a:solidFill>
                <a:latin typeface="Montserrat"/>
              </a:rPr>
              <a:t>Рост объёма заказов не потребовал найма дополнительного сотрудника • окупаемость проекта — 3–5 месяцев</a:t>
            </a:r>
            <a:endParaRPr sz="1100" b="0" i="0">
              <a:latin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59161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67085"/>
                </a:solidFill>
                <a:latin typeface="Montserrat"/>
              </a:rPr>
              <a:t>Расчёт: 15–25 заказов в день, 22 рабочих дня, 17 минут экономии на заказ.</a:t>
            </a:r>
            <a:endParaRPr sz="900" b="0" i="0"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7085"/>
                </a:solidFill>
                <a:latin typeface="Montserrat"/>
              </a:rPr>
              <a:t>WEBOPTIMIZE  •  WEBOPTIMIZE.RU</a:t>
            </a:r>
            <a:endParaRPr sz="800" b="0" i="0">
              <a:latin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AC1C1"/>
                </a:solidFill>
                <a:latin typeface="Montserrat"/>
              </a:rPr>
              <a:t>РЕЗУЛЬТАТ</a:t>
            </a:r>
            <a:endParaRPr sz="1100" b="0" i="0"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49224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FFFFFF"/>
                </a:solidFill>
                <a:latin typeface="Montserrat"/>
              </a:rPr>
              <a:t>Одна сделка соответствует
одному заказу</a:t>
            </a:r>
            <a:endParaRPr sz="3600" b="0" i="0"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7315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D6E4EC"/>
                </a:solidFill>
                <a:latin typeface="Montserrat"/>
              </a:rPr>
              <a:t>Компания сохранила текущий штат, ускорила работу сотрудников
и устранила повторный ввод между системами.</a:t>
            </a:r>
            <a:endParaRPr sz="1700" b="0" i="0">
              <a:latin typeface="Montserra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2423160" cy="1234440"/>
          </a:xfrm>
          <a:prstGeom prst="roundRect">
            <a:avLst/>
          </a:prstGeom>
          <a:solidFill>
            <a:srgbClr val="1E314A"/>
          </a:solidFill>
          <a:ln w="10160">
            <a:solidFill>
              <a:srgbClr val="3B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2057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AC1C1"/>
                </a:solidFill>
                <a:latin typeface="Montserrat"/>
              </a:rPr>
              <a:t>до 1 млн руб.</a:t>
            </a:r>
            <a:endParaRPr sz="1900" b="0" i="0"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481888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5D4DE"/>
                </a:solidFill>
                <a:latin typeface="Montserrat"/>
              </a:rPr>
              <a:t>экономии в год</a:t>
            </a:r>
            <a:endParaRPr sz="1000" b="0" i="0">
              <a:latin typeface="Montserra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29000" y="4114800"/>
            <a:ext cx="2423160" cy="1234440"/>
          </a:xfrm>
          <a:prstGeom prst="roundRect">
            <a:avLst/>
          </a:prstGeom>
          <a:solidFill>
            <a:srgbClr val="1E314A"/>
          </a:solidFill>
          <a:ln w="10160">
            <a:solidFill>
              <a:srgbClr val="3B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4343400"/>
            <a:ext cx="2057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AC1C1"/>
                </a:solidFill>
                <a:latin typeface="Montserrat"/>
              </a:rPr>
              <a:t>3–5 мес</a:t>
            </a:r>
            <a:endParaRPr sz="1900" b="0" i="0"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1880" y="481888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5D4DE"/>
                </a:solidFill>
                <a:latin typeface="Montserrat"/>
              </a:rPr>
              <a:t>окупаемость проекта</a:t>
            </a:r>
            <a:endParaRPr sz="1000" b="0" i="0">
              <a:latin typeface="Montserra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4114800"/>
            <a:ext cx="2423160" cy="1234440"/>
          </a:xfrm>
          <a:prstGeom prst="roundRect">
            <a:avLst/>
          </a:prstGeom>
          <a:solidFill>
            <a:srgbClr val="1E314A"/>
          </a:solidFill>
          <a:ln w="10160">
            <a:solidFill>
              <a:srgbClr val="3B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343400"/>
            <a:ext cx="2057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AC1C1"/>
                </a:solidFill>
                <a:latin typeface="Montserrat"/>
              </a:rPr>
              <a:t>0 новых</a:t>
            </a:r>
            <a:endParaRPr sz="1900" b="0" i="0"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5080" y="481888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5D4DE"/>
                </a:solidFill>
                <a:latin typeface="Montserrat"/>
              </a:rPr>
              <a:t>сотрудников в штате</a:t>
            </a:r>
            <a:endParaRPr sz="1000" b="0" i="0">
              <a:latin typeface="Montserra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15400" y="4114800"/>
            <a:ext cx="2423160" cy="1234440"/>
          </a:xfrm>
          <a:prstGeom prst="roundRect">
            <a:avLst/>
          </a:prstGeom>
          <a:solidFill>
            <a:srgbClr val="1E314A"/>
          </a:solidFill>
          <a:ln w="10160">
            <a:solidFill>
              <a:srgbClr val="3B5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4343400"/>
            <a:ext cx="2057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AC1C1"/>
                </a:solidFill>
                <a:latin typeface="Montserrat"/>
              </a:rPr>
              <a:t>0 дублей</a:t>
            </a:r>
            <a:endParaRPr sz="1900" b="0" i="0"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98280" y="481888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5D4DE"/>
                </a:solidFill>
                <a:latin typeface="Montserrat"/>
              </a:rPr>
              <a:t>при повторной отправке</a:t>
            </a:r>
            <a:endParaRPr sz="1000" b="0" i="0"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DB0BF"/>
                </a:solidFill>
                <a:latin typeface="Montserrat"/>
              </a:rPr>
              <a:t>WEBOPTIMIZE  •  WEBOPTIMIZE.RU</a:t>
            </a:r>
            <a:endParaRPr sz="900" b="0" i="0">
              <a:latin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