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КОНТЕКСТ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Индивидуальный заказ проходит длинный путь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02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80136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1998</a:t>
            </a:r>
            <a:endParaRPr sz="27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4671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год начала работы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971800" y="160020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36392" y="180136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10 000+</a:t>
            </a:r>
            <a:endParaRPr sz="27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36392" y="235000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частных клиентов</a:t>
            </a:r>
            <a:endParaRPr sz="11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324612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44728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1 000+</a:t>
            </a:r>
            <a:endParaRPr sz="27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1" y="399592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организаций</a:t>
            </a:r>
            <a:endParaRPr sz="11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971800" y="3246120"/>
            <a:ext cx="2011680" cy="132588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36392" y="3447288"/>
            <a:ext cx="16916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 i="0">
                <a:solidFill>
                  <a:srgbClr val="008C8C"/>
                </a:solidFill>
                <a:latin typeface="Montserrat"/>
              </a:rPr>
              <a:t>500+</a:t>
            </a:r>
            <a:endParaRPr sz="27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136392" y="3995928"/>
            <a:ext cx="16916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постоянных клиентов</a:t>
            </a:r>
            <a:endParaRPr sz="1100" b="0" i="0">
              <a:latin typeface="Montserrat"/>
            </a:endParaRPr>
          </a:p>
        </p:txBody>
      </p:sp>
      <p:pic>
        <p:nvPicPr>
          <p:cNvPr id="17" name="Picture 16" descr="ptz-proj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581912"/>
            <a:ext cx="2926080" cy="2926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23960" y="1719072"/>
            <a:ext cx="1005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ЗАМЕР</a:t>
            </a:r>
            <a:endParaRPr sz="11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823960" y="2240280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РАСЧЁТ</a:t>
            </a:r>
            <a:endParaRPr sz="13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823960" y="276148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ПРОИЗВОДСТВО</a:t>
            </a:r>
            <a:endParaRPr sz="1300" b="0" i="0"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23960" y="3282696"/>
            <a:ext cx="17373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ДОСТАВКА</a:t>
            </a:r>
            <a:endParaRPr sz="13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23960" y="3803904"/>
            <a:ext cx="15544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МОНТАЖ</a:t>
            </a:r>
            <a:endParaRPr sz="13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ЗАДАЧА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Между сделкой и производством был разрыв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03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01</a:t>
            </a:r>
            <a:endParaRPr sz="10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59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Два рабочих пространства</a:t>
            </a:r>
            <a:endParaRPr sz="15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59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Менеджер — в Bitrix24, производство — в 1С.</a:t>
            </a:r>
            <a:endParaRPr sz="11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02</a:t>
            </a:r>
            <a:endParaRPr sz="10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90288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Ручная сверка</a:t>
            </a:r>
            <a:endParaRPr sz="15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90288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Номер, статус, сроки и сумма уточняются отдельно.</a:t>
            </a:r>
            <a:endParaRPr sz="11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5" y="176479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03</a:t>
            </a:r>
            <a:endParaRPr sz="10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57615" y="2130552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Риск дубля</a:t>
            </a:r>
            <a:endParaRPr sz="15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57615" y="253288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Повторная передача может создать второй заказ.</a:t>
            </a:r>
            <a:endParaRPr sz="11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04</a:t>
            </a:r>
            <a:endParaRPr sz="10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59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Закрытая 1С</a:t>
            </a:r>
            <a:endParaRPr sz="15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59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Старую базу нельзя публиковать в интернет.</a:t>
            </a:r>
            <a:endParaRPr sz="11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407408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05</a:t>
            </a:r>
            <a:endParaRPr sz="10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90288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Собственная форма заказа</a:t>
            </a:r>
            <a:endParaRPr sz="15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90288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Производство работает в привычном заказе 1С.</a:t>
            </a:r>
            <a:endParaRPr sz="1100" b="0" i="0"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74736" y="3566160"/>
            <a:ext cx="342900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730752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06</a:t>
            </a:r>
            <a:endParaRPr sz="10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57615" y="4096511"/>
            <a:ext cx="30175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5243A"/>
                </a:solidFill>
                <a:latin typeface="Montserrat"/>
              </a:rPr>
              <a:t>Нет штатного коннектора</a:t>
            </a:r>
            <a:endParaRPr sz="15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57615" y="4498848"/>
            <a:ext cx="301752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Устаревшая конфигурация требует отдельного адаптера.</a:t>
            </a:r>
            <a:endParaRPr sz="1100" b="0" i="0">
              <a:latin typeface="Montserrat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КАК УСТРОЕНО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1С остаётся закрытой, обмен идёт через сервер компании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04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01568" cy="233172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14884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008C8C"/>
                </a:solidFill>
                <a:latin typeface="Montserrat"/>
              </a:rPr>
              <a:t>BITRIX24</a:t>
            </a:r>
            <a:endParaRPr sz="14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50976" y="2816352"/>
            <a:ext cx="27889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Сделка, контакт и команда менеджера</a:t>
            </a:r>
            <a:endParaRPr sz="1400" b="0" i="0"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059936" y="2944368"/>
            <a:ext cx="420624" cy="109728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874519"/>
            <a:ext cx="3401568" cy="233172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0016" y="214884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769AA"/>
                </a:solidFill>
                <a:latin typeface="Montserrat"/>
              </a:rPr>
              <a:t>ЛОКАЛЬНЫЙ МОДУЛЬ</a:t>
            </a:r>
            <a:endParaRPr sz="14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73168" y="2816352"/>
            <a:ext cx="27889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Связывает системы и автоматически повторяет обмен</a:t>
            </a:r>
            <a:endParaRPr sz="1400" b="0" i="0"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882127" y="2944368"/>
            <a:ext cx="420624" cy="109728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02752" y="1874519"/>
            <a:ext cx="3401568" cy="2331720"/>
          </a:xfrm>
          <a:prstGeom prst="roundRect">
            <a:avLst/>
          </a:prstGeom>
          <a:solidFill>
            <a:srgbClr val="FFF5DC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2148840"/>
            <a:ext cx="29443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D99400"/>
                </a:solidFill>
                <a:latin typeface="Montserrat"/>
              </a:rPr>
              <a:t>1С</a:t>
            </a:r>
            <a:endParaRPr sz="14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95360" y="2816352"/>
            <a:ext cx="278892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Заказ, статус, срок и сумма</a:t>
            </a:r>
            <a:endParaRPr sz="1400" b="0" i="0"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261872" y="4892040"/>
            <a:ext cx="9674352" cy="68580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5102352"/>
            <a:ext cx="9144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08C8C"/>
                </a:solidFill>
                <a:latin typeface="Montserrat"/>
              </a:rPr>
              <a:t>1С остаётся внутри компании • менеджер продолжает работать в Bitrix24</a:t>
            </a:r>
            <a:endParaRPr sz="12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ПУТЬ ПОЛЬЗОВАТЕЛЯ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300" b="0" i="0">
                <a:solidFill>
                  <a:srgbClr val="15243A"/>
                </a:solidFill>
                <a:latin typeface="Montserrat"/>
              </a:rPr>
              <a:t>Пять шагов — от заполненной сделки до актуального статуса</a:t>
            </a:r>
            <a:endParaRPr sz="23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05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2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01</a:t>
            </a:r>
            <a:endParaRPr sz="18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392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Заполняет сделку</a:t>
            </a:r>
            <a:endParaRPr sz="1400" b="0" i="0"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615184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26080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02</a:t>
            </a:r>
            <a:endParaRPr sz="18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54680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Даёт команду</a:t>
            </a:r>
            <a:endParaRPr sz="1400" b="0" i="0"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919472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0368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03</a:t>
            </a:r>
            <a:endParaRPr sz="18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58968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Заказ создаётся в 1С</a:t>
            </a:r>
            <a:endParaRPr sz="1400" b="0" i="0">
              <a:latin typeface="Montserra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23760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34656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17536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04</a:t>
            </a:r>
            <a:endParaRPr sz="18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63256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Производство выполняет заказ</a:t>
            </a:r>
            <a:endParaRPr sz="1400" b="0" i="0">
              <a:latin typeface="Montserrat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28048" y="3136392"/>
            <a:ext cx="310896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38944" y="1938528"/>
            <a:ext cx="1993392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1824" y="2176272"/>
            <a:ext cx="1627632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008C8C"/>
                </a:solidFill>
                <a:latin typeface="Montserrat"/>
              </a:rPr>
              <a:t>05</a:t>
            </a:r>
            <a:endParaRPr sz="18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067544" y="2880360"/>
            <a:ext cx="1536192" cy="9601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Результат виден в CRM</a:t>
            </a:r>
            <a:endParaRPr sz="1400" b="0" i="0">
              <a:latin typeface="Montserrat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40080" y="5696712"/>
            <a:ext cx="10881360" cy="53035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843016"/>
            <a:ext cx="104241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Менеджер работает в Bitrix24 • производство — в 1С • связь и обновления выполняются автоматически</a:t>
            </a:r>
            <a:endParaRPr sz="1100" b="0" i="0"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ОБРАТНЫЙ ОБМЕН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Изменения 1С возвращаются в исходную сделку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06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9808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D99400"/>
                </a:solidFill>
                <a:latin typeface="Montserrat"/>
              </a:rPr>
              <a:t>1С • ПРОИЗВОДСТВО</a:t>
            </a:r>
            <a:endParaRPr sz="13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7008" y="2459736"/>
            <a:ext cx="31546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Статус
Срок готовности
Сумма
Сведения о переделке</a:t>
            </a:r>
            <a:endParaRPr sz="14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65776" y="2258568"/>
            <a:ext cx="2057400" cy="105156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2532888"/>
            <a:ext cx="1618488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АВТОМАТИЧЕСКОЕ
ОБНОВЛЕНИЕ</a:t>
            </a:r>
            <a:endParaRPr sz="11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70064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769AA"/>
                </a:solidFill>
                <a:latin typeface="Montserrat"/>
              </a:rPr>
              <a:t>BITRIX24 • МЕНЕДЖЕР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27264" y="2596896"/>
            <a:ext cx="315468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5243A"/>
                </a:solidFill>
                <a:latin typeface="Montserrat"/>
              </a:rPr>
              <a:t>Актуальный результат
виден в исходной сделке</a:t>
            </a:r>
            <a:endParaRPr sz="1600" b="0" i="0">
              <a:latin typeface="Montserra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818888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23176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30368"/>
            <a:ext cx="10698480" cy="868680"/>
          </a:xfrm>
          <a:prstGeom prst="rect">
            <a:avLst/>
          </a:prstGeom>
          <a:noFill/>
        </p:spPr>
        <p:txBody>
          <a:bodyPr wrap="square" lIns="18288" rIns="18288" tIns="18288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1С владеет производственным статусом, сроками, суммой и переделкой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модуль обмена проверяет только уже связанные заказы</a:t>
            </a:r>
            <a:endParaRPr sz="1100" b="0" i="0">
              <a:latin typeface="Montserrat"/>
            </a:endParaRPr>
          </a:p>
          <a:p>
            <a:pPr>
              <a:lnSpc>
                <a:spcPct val="105000"/>
              </a:lnSpc>
              <a:spcAft>
                <a:spcPts val="800"/>
              </a:spcAft>
              <a:defRPr sz="1120">
                <a:solidFill>
                  <a:srgbClr val="17212B"/>
                </a:solidFill>
                <a:latin typeface="Montserrat"/>
              </a:defRPr>
            </a:pPr>
            <a:r>
              <a:rPr sz="1100" b="0" i="0">
                <a:latin typeface="Montserrat"/>
              </a:rPr>
              <a:t>•  вторая сделка и второй заказ не создаются</a:t>
            </a:r>
            <a:endParaRPr sz="11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НАДЁЖНОСТЬ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Временная ошибка не превращается в дубль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07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01</a:t>
            </a:r>
            <a:endParaRPr sz="16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60119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Команда остаётся в очереди</a:t>
            </a:r>
            <a:endParaRPr sz="1400" b="0" i="0"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089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02</a:t>
            </a:r>
            <a:endParaRPr sz="16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703320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Обмен повторяется автоматически</a:t>
            </a:r>
            <a:endParaRPr sz="1400" b="0" i="0">
              <a:latin typeface="Montserrat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8521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03</a:t>
            </a:r>
            <a:endParaRPr sz="16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46520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Связь проверяется перед записью</a:t>
            </a:r>
            <a:endParaRPr sz="1400" b="0" i="0">
              <a:latin typeface="Montserrat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595360" y="2926080"/>
            <a:ext cx="274320" cy="91440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69680" y="1874519"/>
            <a:ext cx="2468880" cy="2194560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2112264"/>
            <a:ext cx="2066543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769AA"/>
                </a:solidFill>
                <a:latin typeface="Montserrat"/>
              </a:rPr>
              <a:t>04</a:t>
            </a:r>
            <a:endParaRPr sz="16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89719" y="2743200"/>
            <a:ext cx="182880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Обновляется существующий заказ</a:t>
            </a:r>
            <a:endParaRPr sz="1400" b="0" i="0">
              <a:latin typeface="Montserrat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143000" y="4828032"/>
            <a:ext cx="9921240" cy="71323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5047488"/>
            <a:ext cx="9372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08C8C"/>
                </a:solidFill>
                <a:latin typeface="Montserrat"/>
              </a:rPr>
              <a:t>Временный сбой не останавливает процесс и не создаёт второй заказ</a:t>
            </a:r>
            <a:endParaRPr sz="12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РЕАЛИЗОВАНО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Что работает в ежедневном процессе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08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247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Заказ создаётся из сделки</a:t>
            </a:r>
            <a:endParaRPr sz="1300" b="0" i="0">
              <a:latin typeface="Montserra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7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Автоматически</a:t>
            </a:r>
            <a:endParaRPr sz="900" b="0" i="0">
              <a:latin typeface="Montserrat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08576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Повтор обновляет заказ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08576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Без дубля</a:t>
            </a:r>
            <a:endParaRPr sz="9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74736" y="160020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77393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75904" y="2130552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Результат возвращается</a:t>
            </a:r>
            <a:endParaRPr sz="13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75904" y="268833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В исходную сделку</a:t>
            </a:r>
            <a:endParaRPr sz="9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1247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Сбой обрабатывается</a:t>
            </a:r>
            <a:endParaRPr sz="13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1247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С автоматическим повтором</a:t>
            </a:r>
            <a:endParaRPr sz="9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407408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8576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08576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Системы связаны</a:t>
            </a:r>
            <a:endParaRPr sz="1300" b="0" i="0">
              <a:latin typeface="Montserra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608576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Одна сделка — один заказ</a:t>
            </a:r>
            <a:endParaRPr sz="900" b="0" i="0">
              <a:latin typeface="Montserrat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174736" y="3520440"/>
            <a:ext cx="342900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5904" y="3694176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7805E"/>
                </a:solidFill>
                <a:latin typeface="Montserrat"/>
              </a:rPr>
              <a:t>РАБОТАЕТ</a:t>
            </a:r>
            <a:endParaRPr sz="9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75904" y="4050791"/>
            <a:ext cx="29718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Обмен идёт по расписанию</a:t>
            </a:r>
            <a:endParaRPr sz="13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75904" y="4608576"/>
            <a:ext cx="28803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Без ручного запуска</a:t>
            </a:r>
            <a:endParaRPr sz="900" b="0" i="0">
              <a:latin typeface="Montserrat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40080" y="5559552"/>
            <a:ext cx="10881360" cy="603504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33288"/>
            <a:ext cx="10378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008C8C"/>
                </a:solidFill>
                <a:latin typeface="Montserrat"/>
              </a:rPr>
              <a:t>Менеджер видит исполнение заказа в Bitrix24, производство продолжает работать в 1С</a:t>
            </a:r>
            <a:endParaRPr sz="1000" b="0" i="0">
              <a:latin typeface="Montserrat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БИЗНЕС-РЕЗУЛЬТАТ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09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78308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008C8C"/>
                </a:solidFill>
                <a:latin typeface="Montserrat"/>
              </a:rPr>
              <a:t>−80–90%</a:t>
            </a:r>
            <a:endParaRPr sz="24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77824" y="236829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15–25 минут до • 2–3 минуты после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172200" y="157276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78308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769AA"/>
                </a:solidFill>
                <a:latin typeface="Montserrat"/>
              </a:rPr>
              <a:t>94–156 ч/мес</a:t>
            </a:r>
            <a:endParaRPr sz="24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9944" y="236829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высвобождено рабочего времени</a:t>
            </a:r>
            <a:endParaRPr sz="11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331012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2044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7805E"/>
                </a:solidFill>
                <a:latin typeface="Montserrat"/>
              </a:rPr>
              <a:t>0,6–1 ставки</a:t>
            </a:r>
            <a:endParaRPr sz="24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7824" y="410565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полученный запас производительности</a:t>
            </a:r>
            <a:endParaRPr sz="11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72200" y="3310128"/>
            <a:ext cx="5376672" cy="1417320"/>
          </a:xfrm>
          <a:prstGeom prst="roundRect">
            <a:avLst/>
          </a:prstGeom>
          <a:solidFill>
            <a:srgbClr val="F3F6F8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520440"/>
            <a:ext cx="4846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D99400"/>
                </a:solidFill>
                <a:latin typeface="Montserrat"/>
              </a:rPr>
              <a:t>0,5–1 млн руб.</a:t>
            </a:r>
            <a:endParaRPr sz="24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9944" y="4105656"/>
            <a:ext cx="4846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полученная экономия в год</a:t>
            </a:r>
            <a:endParaRPr sz="1100" b="0" i="0">
              <a:latin typeface="Montserrat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40080" y="5056632"/>
            <a:ext cx="10908792" cy="694944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76088"/>
            <a:ext cx="104241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Рост объёма заказов не потребовал найма дополнительного сотрудника • окупаемость проекта — 3–5 месяцев</a:t>
            </a:r>
            <a:endParaRPr sz="11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5916168"/>
            <a:ext cx="107899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667085"/>
                </a:solidFill>
                <a:latin typeface="Montserrat"/>
              </a:rPr>
              <a:t>Расчёт: 15–25 заказов в день, 22 рабочих дня, 17 минут экономии на заказ.</a:t>
            </a:r>
            <a:endParaRPr sz="9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AC1C1"/>
                </a:solidFill>
                <a:latin typeface="Montserrat"/>
              </a:rPr>
              <a:t>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6492240" cy="1325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FFFFFF"/>
                </a:solidFill>
                <a:latin typeface="Montserrat"/>
              </a:rPr>
              <a:t>Одна сделка соответствует
одному заказу</a:t>
            </a:r>
            <a:endParaRPr sz="3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697480"/>
            <a:ext cx="73152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D6E4EC"/>
                </a:solidFill>
                <a:latin typeface="Montserrat"/>
              </a:rPr>
              <a:t>Компания сохранила текущий штат, ускорила работу сотрудников
и устранила повторный ввод между системами.</a:t>
            </a:r>
            <a:endParaRPr sz="17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до 1 млн руб.</a:t>
            </a:r>
            <a:endParaRPr sz="19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экономии в год</a:t>
            </a:r>
            <a:endParaRPr sz="10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4290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3–5 мес</a:t>
            </a:r>
            <a:endParaRPr sz="19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118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окупаемость проекта</a:t>
            </a:r>
            <a:endParaRPr sz="10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0 новых</a:t>
            </a:r>
            <a:endParaRPr sz="19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550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сотрудников в штате</a:t>
            </a:r>
            <a:endParaRPr sz="10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915400" y="4114800"/>
            <a:ext cx="2423160" cy="12344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4343400"/>
            <a:ext cx="20574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AC1C1"/>
                </a:solidFill>
                <a:latin typeface="Montserrat"/>
              </a:rPr>
              <a:t>0 дублей</a:t>
            </a:r>
            <a:endParaRPr sz="19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98280" y="4818888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5D4DE"/>
                </a:solidFill>
                <a:latin typeface="Montserrat"/>
              </a:rPr>
              <a:t>при повторной отправке</a:t>
            </a:r>
            <a:endParaRPr sz="10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DB0BF"/>
                </a:solidFill>
                <a:latin typeface="Montserrat"/>
              </a:rPr>
              <a:t>WEBOPTIMIZE  •  WEBOPTIMIZE.RU</a:t>
            </a:r>
            <a:endParaRPr sz="900" b="0" i="0"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