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РЕЗУЛЬТАТ СРАЗУ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02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result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31" y="1307592"/>
            <a:ext cx="10549288" cy="5010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ЗАДАЧА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Между сделкой и производством был разрыв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03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4251960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" y="5138928"/>
            <a:ext cx="3840480" cy="658368"/>
          </a:xfrm>
          <a:prstGeom prst="roundRect">
            <a:avLst/>
          </a:prstGeom>
          <a:solidFill>
            <a:srgbClr val="15243A"/>
          </a:solidFill>
          <a:ln w="10160">
            <a:solidFill>
              <a:srgbClr val="15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5340096"/>
            <a:ext cx="3474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ИНДИВИДУАЛЬНОЕ ПРОИЗВОДСТВО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1554480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0368" y="1554480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737360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74B50"/>
                </a:solidFill>
                <a:latin typeface="Montserrat"/>
              </a:rPr>
              <a:t>01</a:t>
            </a:r>
            <a:endParaRPr sz="9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80760" y="1700784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5243A"/>
                </a:solidFill>
                <a:latin typeface="Montserrat"/>
              </a:rPr>
              <a:t>Два рабочих пространства</a:t>
            </a:r>
            <a:endParaRPr sz="12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39327" y="1709928"/>
            <a:ext cx="28346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Менеджер работает в Bitrix24, производство — в 1С.</a:t>
            </a:r>
            <a:endParaRPr sz="10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230368" y="2670048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0368" y="2670048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2852928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74B50"/>
                </a:solidFill>
                <a:latin typeface="Montserrat"/>
              </a:rPr>
              <a:t>02</a:t>
            </a:r>
            <a:endParaRPr sz="9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80760" y="2816352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Ручная сверка</a:t>
            </a:r>
            <a:endParaRPr sz="13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39327" y="2825496"/>
            <a:ext cx="28346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Статус, срок и сумма уточняются между сотрудниками.</a:t>
            </a:r>
            <a:endParaRPr sz="1000" b="0" i="0"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230368" y="3785615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30368" y="3785615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968496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74B50"/>
                </a:solidFill>
                <a:latin typeface="Montserrat"/>
              </a:rPr>
              <a:t>03</a:t>
            </a:r>
            <a:endParaRPr sz="900" b="0" i="0"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80760" y="393192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Риск дубля</a:t>
            </a:r>
            <a:endParaRPr sz="13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39327" y="3941063"/>
            <a:ext cx="28346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Повторная передача могла создать второй заказ.</a:t>
            </a:r>
            <a:endParaRPr sz="1000" b="0" i="0">
              <a:latin typeface="Montserrat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230368" y="4901184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30368" y="4901184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9552" y="5084064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74B50"/>
                </a:solidFill>
                <a:latin typeface="Montserrat"/>
              </a:rPr>
              <a:t>04</a:t>
            </a:r>
            <a:endParaRPr sz="900" b="0" i="0"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080760" y="5047488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Закрытая 1С</a:t>
            </a:r>
            <a:endParaRPr sz="13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39327" y="5056632"/>
            <a:ext cx="28346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Базу нельзя публиковать в интернет.</a:t>
            </a:r>
            <a:endParaRPr sz="10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КАК УСТРОЕНО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1С остаётся закрытой, обмен идёт через сервер компании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04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process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34750"/>
            <a:ext cx="11018520" cy="482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ИНТЕРФЕЙС ПРОЦЕССА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Менеджер видит заказ, не переходя в 1С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05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interfac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723" y="1298448"/>
            <a:ext cx="10741793" cy="5102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ОБРАТНЫЙ ОБМЕН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Изменения 1С возвращаются в исходную сделку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06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49808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D99400"/>
                </a:solidFill>
                <a:latin typeface="Montserrat"/>
              </a:rPr>
              <a:t>1С • ПРОИЗВОДСТВО</a:t>
            </a:r>
            <a:endParaRPr sz="13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07008" y="2459736"/>
            <a:ext cx="31546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Статус
Срок готовности
Сумма
Сведения о переделке</a:t>
            </a:r>
            <a:endParaRPr sz="14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65776" y="2258568"/>
            <a:ext cx="2057400" cy="105156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2532888"/>
            <a:ext cx="1618488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АВТОМАТИЧЕСКОЕ
ОБНОВЛЕНИЕ</a:t>
            </a:r>
            <a:endParaRPr sz="11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70064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769AA"/>
                </a:solidFill>
                <a:latin typeface="Montserrat"/>
              </a:rPr>
              <a:t>BITRIX24 • МЕНЕДЖЕР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27264" y="2596896"/>
            <a:ext cx="315468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5243A"/>
                </a:solidFill>
                <a:latin typeface="Montserrat"/>
              </a:rPr>
              <a:t>Актуальный результат
виден в исходной сделке</a:t>
            </a:r>
            <a:endParaRPr sz="1600" b="0" i="0">
              <a:latin typeface="Montserrat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818888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23176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30368"/>
            <a:ext cx="10698480" cy="868680"/>
          </a:xfrm>
          <a:prstGeom prst="rect">
            <a:avLst/>
          </a:prstGeom>
          <a:noFill/>
        </p:spPr>
        <p:txBody>
          <a:bodyPr wrap="square" lIns="18288" rIns="18288" tIns="18288">
            <a:no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1С владеет производственным статусом, сроками, суммой и переделкой</a:t>
            </a:r>
            <a:endParaRPr sz="11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модуль обмена проверяет только уже связанные заказы</a:t>
            </a:r>
            <a:endParaRPr sz="11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вторая сделка и второй заказ не создаются</a:t>
            </a:r>
            <a:endParaRPr sz="11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НАДЁЖНОСТЬ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Временная ошибка не превращается в дубль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07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01</a:t>
            </a:r>
            <a:endParaRPr sz="16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60119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Команда остаётся в очереди</a:t>
            </a:r>
            <a:endParaRPr sz="1400" b="0" i="0"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089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02</a:t>
            </a:r>
            <a:endParaRPr sz="16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703320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Обмен повторяется автоматически</a:t>
            </a:r>
            <a:endParaRPr sz="1400" b="0" i="0"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8521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03</a:t>
            </a:r>
            <a:endParaRPr sz="16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46520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Связь проверяется перед записью</a:t>
            </a:r>
            <a:endParaRPr sz="1400" b="0" i="0">
              <a:latin typeface="Montserra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5953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696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04</a:t>
            </a:r>
            <a:endParaRPr sz="16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89719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Обновляется существующий заказ</a:t>
            </a:r>
            <a:endParaRPr sz="1400" b="0" i="0">
              <a:latin typeface="Montserrat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143000" y="4828032"/>
            <a:ext cx="9921240" cy="71323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5047488"/>
            <a:ext cx="9372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08C8C"/>
                </a:solidFill>
                <a:latin typeface="Montserrat"/>
              </a:rPr>
              <a:t>Временный сбой не останавливает процесс и не создаёт второй заказ</a:t>
            </a:r>
            <a:endParaRPr sz="12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В РАБОЧЕМ ПРОЦЕССЕ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Интеграция поддерживает индивидуальное производство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08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photo-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33036"/>
            <a:ext cx="7909560" cy="444912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96528" y="1572768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97696" y="1755648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82912" y="1737360"/>
            <a:ext cx="16916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5243A"/>
                </a:solidFill>
                <a:latin typeface="Montserrat"/>
              </a:rPr>
              <a:t>Заказ создаётся из сделки</a:t>
            </a:r>
            <a:endParaRPr sz="1000" b="0" i="0">
              <a:latin typeface="Montserra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796528" y="2560320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97696" y="2743200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82912" y="2724912"/>
            <a:ext cx="16916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5243A"/>
                </a:solidFill>
                <a:latin typeface="Montserrat"/>
              </a:rPr>
              <a:t>Повтор обновляет связь без дубля</a:t>
            </a:r>
            <a:endParaRPr sz="1000" b="0" i="0">
              <a:latin typeface="Montserrat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796528" y="3547872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97696" y="3730752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82912" y="3712463"/>
            <a:ext cx="16916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5243A"/>
                </a:solidFill>
                <a:latin typeface="Montserrat"/>
              </a:rPr>
              <a:t>Статус возвращается в Bitrix24</a:t>
            </a:r>
            <a:endParaRPr sz="1000" b="0" i="0">
              <a:latin typeface="Montserrat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796528" y="4535424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97696" y="4718304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2912" y="4700016"/>
            <a:ext cx="16916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5243A"/>
                </a:solidFill>
                <a:latin typeface="Montserrat"/>
              </a:rPr>
              <a:t>Производство продолжает работать в 1С</a:t>
            </a:r>
            <a:endParaRPr sz="9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8680" y="5989320"/>
            <a:ext cx="7452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008C8C"/>
                </a:solidFill>
                <a:latin typeface="Montserrat"/>
              </a:rPr>
              <a:t>РЕАЛЬНЫЕ РАБОТЫ СТЕКЛОЦЕНТР.ПТЗ</a:t>
            </a:r>
            <a:endParaRPr sz="9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БИЗНЕС-РЕЗУЛЬТАТ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09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business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31" y="1307592"/>
            <a:ext cx="10549288" cy="5010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16168"/>
            <a:ext cx="107899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Расчёт: 15–25 заказов в день, 22 рабочих дня, 17 минут экономии на заказ.</a:t>
            </a:r>
            <a:endParaRPr sz="9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4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0"/>
            <a:ext cx="46451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69480" y="0"/>
            <a:ext cx="384048" cy="6858000"/>
          </a:xfrm>
          <a:prstGeom prst="rect">
            <a:avLst/>
          </a:prstGeom>
          <a:solidFill>
            <a:srgbClr val="15243A"/>
          </a:solidFill>
          <a:ln w="10160">
            <a:solidFill>
              <a:srgbClr val="15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AC1C1"/>
                </a:solidFill>
                <a:latin typeface="Montserrat"/>
              </a:rPr>
              <a:t>РЕЗУЛЬТАТ</a:t>
            </a:r>
            <a:endParaRPr sz="1100" b="0" i="0">
              <a:latin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309360" cy="1325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FFFFFF"/>
                </a:solidFill>
                <a:latin typeface="Montserrat"/>
              </a:rPr>
              <a:t>Одна сделка соответствует
одному заказу</a:t>
            </a:r>
            <a:endParaRPr sz="3600" b="0" i="0"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2697480"/>
            <a:ext cx="63093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D6E4EC"/>
                </a:solidFill>
                <a:latin typeface="Montserrat"/>
              </a:rPr>
              <a:t>Компания сохранила текущий штат, ускорила работу сотрудников
и устранила повторный ввод между системами.</a:t>
            </a:r>
            <a:endParaRPr sz="1700" b="0" i="0">
              <a:latin typeface="Montserrat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3977639"/>
            <a:ext cx="2834640" cy="10058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42231"/>
            <a:ext cx="2423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AC1C1"/>
                </a:solidFill>
                <a:latin typeface="Montserrat"/>
              </a:rPr>
              <a:t>до 1 млн руб.</a:t>
            </a:r>
            <a:endParaRPr sz="1700" b="0" i="0"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4562855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5D4DE"/>
                </a:solidFill>
                <a:latin typeface="Montserrat"/>
              </a:rPr>
              <a:t>экономии в год</a:t>
            </a:r>
            <a:endParaRPr sz="9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886200" y="3977639"/>
            <a:ext cx="2834640" cy="10058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4142231"/>
            <a:ext cx="2423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AC1C1"/>
                </a:solidFill>
                <a:latin typeface="Montserrat"/>
              </a:rPr>
              <a:t>3–5 мес</a:t>
            </a:r>
            <a:endParaRPr sz="17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069080" y="4562855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5D4DE"/>
                </a:solidFill>
                <a:latin typeface="Montserrat"/>
              </a:rPr>
              <a:t>окупаемость проекта</a:t>
            </a:r>
            <a:endParaRPr sz="9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5800" y="5257800"/>
            <a:ext cx="2834640" cy="10058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422392"/>
            <a:ext cx="2423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AC1C1"/>
                </a:solidFill>
                <a:latin typeface="Montserrat"/>
              </a:rPr>
              <a:t>0 новых</a:t>
            </a:r>
            <a:endParaRPr sz="17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68680" y="5843016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5D4DE"/>
                </a:solidFill>
                <a:latin typeface="Montserrat"/>
              </a:rPr>
              <a:t>сотрудников в штате</a:t>
            </a:r>
            <a:endParaRPr sz="900" b="0" i="0"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886200" y="5257800"/>
            <a:ext cx="2834640" cy="10058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5422392"/>
            <a:ext cx="2423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AC1C1"/>
                </a:solidFill>
                <a:latin typeface="Montserrat"/>
              </a:rPr>
              <a:t>0 дублей</a:t>
            </a:r>
            <a:endParaRPr sz="17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69080" y="5843016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5D4DE"/>
                </a:solidFill>
                <a:latin typeface="Montserrat"/>
              </a:rPr>
              <a:t>при повторной отправке</a:t>
            </a:r>
            <a:endParaRPr sz="9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6355080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DB0BF"/>
                </a:solidFill>
                <a:latin typeface="Montserrat"/>
              </a:rPr>
              <a:t>WEBOPTIMIZE  •  WEBOPTIMIZE.RU</a:t>
            </a:r>
            <a:endParaRPr sz="900" b="0" i="0">
              <a:latin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